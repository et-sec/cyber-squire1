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306" r:id="rId2"/>
    <p:sldId id="274" r:id="rId3"/>
    <p:sldId id="276" r:id="rId4"/>
    <p:sldId id="278" r:id="rId5"/>
    <p:sldId id="280" r:id="rId6"/>
    <p:sldId id="284" r:id="rId7"/>
    <p:sldId id="286" r:id="rId8"/>
    <p:sldId id="307" r:id="rId9"/>
    <p:sldId id="291" r:id="rId10"/>
    <p:sldId id="308" r:id="rId11"/>
    <p:sldId id="296" r:id="rId12"/>
    <p:sldId id="309" r:id="rId13"/>
    <p:sldId id="301" r:id="rId14"/>
    <p:sldId id="303" r:id="rId15"/>
    <p:sldId id="30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58"/>
  </p:normalViewPr>
  <p:slideViewPr>
    <p:cSldViewPr snapToGrid="0">
      <p:cViewPr varScale="1">
        <p:scale>
          <a:sx n="79" d="100"/>
          <a:sy n="79" d="100"/>
        </p:scale>
        <p:origin x="24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B2138-99F2-1A80-DFB7-1FC23ECF1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E51636"/>
                </a:solidFill>
                <a:latin typeface="Calibri"/>
              </a:rPr>
              <a:t>Chick-fil-A</a:t>
            </a:r>
            <a:r>
              <a:rPr lang="en-US" sz="3200" b="1" dirty="0">
                <a:latin typeface="Calibri"/>
              </a:rPr>
              <a:t> vs. </a:t>
            </a:r>
            <a:r>
              <a:rPr lang="en-US" sz="3200" b="1" dirty="0">
                <a:solidFill>
                  <a:srgbClr val="F15A22"/>
                </a:solidFill>
                <a:latin typeface="Calibri"/>
              </a:rPr>
              <a:t>Popeyes</a:t>
            </a:r>
          </a:p>
          <a:p>
            <a:pPr algn="l">
              <a:buNone/>
            </a:pPr>
            <a:r>
              <a:rPr lang="en-US" sz="2400" dirty="0">
                <a:latin typeface="Calibri"/>
              </a:rPr>
              <a:t>Why Employees Make the Difference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E41B5-463F-D0FB-0B7F-632E9ADEA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dirty="0">
                <a:latin typeface="Calibri"/>
              </a:rPr>
              <a:t>MGS 3400 | Organizational Behavior | Team Project</a:t>
            </a:r>
          </a:p>
        </p:txBody>
      </p:sp>
    </p:spTree>
    <p:extLst>
      <p:ext uri="{BB962C8B-B14F-4D97-AF65-F5344CB8AC3E}">
        <p14:creationId xmlns:p14="http://schemas.microsoft.com/office/powerpoint/2010/main" val="67973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99A6-728F-9B8A-FF4B-54C3997B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9AD0-548E-3B67-DB94-E9781347A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/>
              <a:buAutoNum type="arabicPeriod"/>
            </a:pPr>
            <a:r>
              <a:rPr lang="en-US" sz="1800" dirty="0"/>
              <a:t>Company Introductions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800" dirty="0"/>
              <a:t>How We Define Success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800" dirty="0"/>
              <a:t>Three Key Elements: Culture, Leadership, Job Satisfaction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800" dirty="0"/>
              <a:t>Theoretical Framework &amp; Comparison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800" dirty="0"/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176893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310B9-F0E0-E64E-F8E2-72998D7A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Chick-fil-A</a:t>
            </a:r>
            <a:r>
              <a:rPr lang="en-US" sz="2800" b="1" dirty="0">
                <a:solidFill>
                  <a:srgbClr val="E51636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D109D-63DF-AD13-4075-4B4C002AD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600" dirty="0"/>
              <a:t>Founded 1967 by S. Truett Cathy in Hapeville, Georgia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Headquartered in College Park, GA | 3,000+ US locations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Privately held | Closed every Sunday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Unique Operator Model: </a:t>
            </a:r>
            <a:r>
              <a:rPr lang="en-US" sz="1600" dirty="0"/>
              <a:t>&lt;1% acceptance rate, $10K buy-in, one location per operator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Operators are embedded in daily operations, not absentee owners</a:t>
            </a:r>
          </a:p>
          <a:p>
            <a:pPr marL="228600" indent="-228600">
              <a:buFont typeface="Arial"/>
              <a:buChar char="•"/>
            </a:pPr>
            <a:r>
              <a:rPr lang="en-US" sz="1600" i="1" dirty="0"/>
              <a:t>"To glorify God by being a faithful steward of all that is entrusted to us and to have a positive influence on all who come in contact with Chick-fil-A"</a:t>
            </a:r>
          </a:p>
        </p:txBody>
      </p:sp>
    </p:spTree>
    <p:extLst>
      <p:ext uri="{BB962C8B-B14F-4D97-AF65-F5344CB8AC3E}">
        <p14:creationId xmlns:p14="http://schemas.microsoft.com/office/powerpoint/2010/main" val="149047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DBE2-854E-A67D-9394-A482EC95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587829"/>
            <a:ext cx="8761413" cy="1306285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Popeyes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CBFFE-5AB4-E8CD-E4E1-E9F829D0B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600" dirty="0"/>
              <a:t>Founded 1972 in New Orleans, Louisiana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Owned by Restaurant Brands International (Burger King, Tim Hortons)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3,700+ locations worldwide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Traditional Franchise Model: </a:t>
            </a:r>
            <a:r>
              <a:rPr lang="en-US" sz="1600" dirty="0"/>
              <a:t>operators can own multiple locations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Day-to-day management delegated to hired general managers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2014 turnaround under CEO Cheryl Bachelder introduced servant leadership values, but franchise-level implementation inconsistent</a:t>
            </a:r>
          </a:p>
        </p:txBody>
      </p:sp>
    </p:spTree>
    <p:extLst>
      <p:ext uri="{BB962C8B-B14F-4D97-AF65-F5344CB8AC3E}">
        <p14:creationId xmlns:p14="http://schemas.microsoft.com/office/powerpoint/2010/main" val="259333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571C2-F811-12C6-FA4B-2012E1A56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How We Define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59FD6-B066-F81D-FBC6-51B153E11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i="1" dirty="0"/>
              <a:t>Success is NOT defined by revenue or profit. We measure through employee-driven metrics: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b="1" dirty="0"/>
              <a:t>Employee Retention: </a:t>
            </a:r>
            <a:r>
              <a:rPr lang="en-US" sz="1600" dirty="0"/>
              <a:t>CFA ~30-40% turnover vs. Popeyes ~130% (industry avg)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b="1" dirty="0"/>
              <a:t>Customer Satisfaction (ACSI 2023): </a:t>
            </a:r>
            <a:r>
              <a:rPr lang="en-US" sz="1600" dirty="0"/>
              <a:t>CFA 85/100 (#1) vs. Popeyes 71/100 (below avg of 78)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600" b="1" dirty="0"/>
              <a:t>Observable Engagement: </a:t>
            </a:r>
            <a:r>
              <a:rPr lang="en-US" sz="1600" dirty="0"/>
              <a:t>In-person visits to Atlanta-area locations revealed stark contrasts in eye contact, teamwork, and service energy</a:t>
            </a:r>
          </a:p>
        </p:txBody>
      </p:sp>
    </p:spTree>
    <p:extLst>
      <p:ext uri="{BB962C8B-B14F-4D97-AF65-F5344CB8AC3E}">
        <p14:creationId xmlns:p14="http://schemas.microsoft.com/office/powerpoint/2010/main" val="4140189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4597-1AB1-9E9E-3571-31893536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The Three Elements We Analyzed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9141A79-9503-134A-A862-5B1D604C9886}"/>
              </a:ext>
            </a:extLst>
          </p:cNvPr>
          <p:cNvSpPr/>
          <p:nvPr/>
        </p:nvSpPr>
        <p:spPr>
          <a:xfrm>
            <a:off x="1270000" y="2159000"/>
            <a:ext cx="2794000" cy="2540000"/>
          </a:xfrm>
          <a:prstGeom prst="roundRect">
            <a:avLst/>
          </a:prstGeom>
          <a:solidFill>
            <a:srgbClr val="E51636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b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Organizational
Culture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884316-D52C-FD48-9475-6DF0326D56A6}"/>
              </a:ext>
            </a:extLst>
          </p:cNvPr>
          <p:cNvSpPr/>
          <p:nvPr/>
        </p:nvSpPr>
        <p:spPr>
          <a:xfrm>
            <a:off x="4762500" y="2159000"/>
            <a:ext cx="2794000" cy="2540000"/>
          </a:xfrm>
          <a:prstGeom prst="roundRect">
            <a:avLst/>
          </a:prstGeom>
          <a:solidFill>
            <a:srgbClr val="8B1A1A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b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Leadership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76ACDBB-F652-094B-96A3-24C6C58AB96F}"/>
              </a:ext>
            </a:extLst>
          </p:cNvPr>
          <p:cNvSpPr/>
          <p:nvPr/>
        </p:nvSpPr>
        <p:spPr>
          <a:xfrm>
            <a:off x="8255000" y="2159000"/>
            <a:ext cx="2794000" cy="2540000"/>
          </a:xfrm>
          <a:prstGeom prst="roundRect">
            <a:avLst/>
          </a:prstGeom>
          <a:solidFill>
            <a:srgbClr val="F15A22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b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Job
Satisfaction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AF26879-24AB-8747-961A-7D16636EA495}"/>
              </a:ext>
            </a:extLst>
          </p:cNvPr>
          <p:cNvSpPr/>
          <p:nvPr/>
        </p:nvSpPr>
        <p:spPr>
          <a:xfrm>
            <a:off x="4191000" y="3238500"/>
            <a:ext cx="444500" cy="381000"/>
          </a:xfrm>
          <a:prstGeom prst="rightArrow">
            <a:avLst/>
          </a:prstGeom>
          <a:solidFill>
            <a:srgbClr val="333333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AE190A0-FC2F-3746-9498-A4ACFC34BB85}"/>
              </a:ext>
            </a:extLst>
          </p:cNvPr>
          <p:cNvSpPr/>
          <p:nvPr/>
        </p:nvSpPr>
        <p:spPr>
          <a:xfrm>
            <a:off x="7683500" y="3238500"/>
            <a:ext cx="444500" cy="381000"/>
          </a:xfrm>
          <a:prstGeom prst="rightArrow">
            <a:avLst/>
          </a:prstGeom>
          <a:solidFill>
            <a:srgbClr val="333333"/>
          </a:solidFill>
          <a:ln w="19050" cap="rnd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3E676-A6CA-624B-9349-EF30442D45CA}"/>
              </a:ext>
            </a:extLst>
          </p:cNvPr>
          <p:cNvSpPr txBox="1"/>
          <p:nvPr/>
        </p:nvSpPr>
        <p:spPr>
          <a:xfrm>
            <a:off x="1270000" y="50800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/>
              <a:t>Culture sets the environment  →  Leadership transmits it  →  Job Satisfaction is the outcome</a:t>
            </a:r>
          </a:p>
        </p:txBody>
      </p:sp>
      <p:pic>
        <p:nvPicPr>
          <p:cNvPr id="9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11400" y="2540000"/>
            <a:ext cx="711200" cy="711200"/>
          </a:xfrm>
          <a:prstGeom prst="rect">
            <a:avLst/>
          </a:prstGeom>
        </p:spPr>
      </p:pic>
      <p:pic>
        <p:nvPicPr>
          <p:cNvPr id="10" name="Graphic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3900" y="2540000"/>
            <a:ext cx="711200" cy="711200"/>
          </a:xfrm>
          <a:prstGeom prst="rect">
            <a:avLst/>
          </a:prstGeom>
        </p:spPr>
      </p:pic>
      <p:pic>
        <p:nvPicPr>
          <p:cNvPr id="11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6400" y="2540000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18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29AC0-66DC-A87C-168E-2DC8F260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dirty="0"/>
              <a:t>Organizational Culture: Schein's Three Levels (1985)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15ADD-34DD-E531-D297-7E6D01E9D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E51636"/>
                </a:solidFill>
              </a:rPr>
              <a:t>1. Artifacts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Visible structures, processes, and behaviors</a:t>
            </a:r>
          </a:p>
          <a:p>
            <a:pPr>
              <a:buNone/>
            </a:pPr>
            <a:r>
              <a:rPr lang="en-US" sz="1800" b="1" dirty="0">
                <a:solidFill>
                  <a:srgbClr val="8B1A1A"/>
                </a:solidFill>
              </a:rPr>
              <a:t>2. Espoused Values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Stated strategies, goals, and philosophies</a:t>
            </a:r>
          </a:p>
          <a:p>
            <a:pPr>
              <a:buNone/>
            </a:pPr>
            <a:r>
              <a:rPr lang="en-US" sz="1800" b="1" dirty="0">
                <a:solidFill>
                  <a:srgbClr val="F15A22"/>
                </a:solidFill>
              </a:rPr>
              <a:t>3. Basic Underlying Assumptions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Unconscious, taken-for-granted beliefs that actually drive behavior</a:t>
            </a:r>
          </a:p>
        </p:txBody>
      </p:sp>
    </p:spTree>
    <p:extLst>
      <p:ext uri="{BB962C8B-B14F-4D97-AF65-F5344CB8AC3E}">
        <p14:creationId xmlns:p14="http://schemas.microsoft.com/office/powerpoint/2010/main" val="902843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47C9-6582-B8AD-9B48-FD35D715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dirty="0"/>
              <a:t>Culture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E925C-3089-DA91-00A4-3450739B6F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E51636"/>
                </a:solidFill>
              </a:rPr>
              <a:t>Chick-fil-A</a:t>
            </a:r>
          </a:p>
          <a:p>
            <a:pPr>
              <a:buNone/>
            </a:pPr>
            <a:r>
              <a:rPr lang="en-US" sz="1400" b="1" dirty="0"/>
              <a:t>Artifacts:</a:t>
            </a:r>
            <a:r>
              <a:rPr lang="en-US" sz="1400" dirty="0"/>
              <a:t> Clean stores, uniforms, "My pleasure" script</a:t>
            </a:r>
          </a:p>
          <a:p>
            <a:pPr>
              <a:buNone/>
            </a:pPr>
            <a:r>
              <a:rPr lang="en-US" sz="1400" b="1" dirty="0"/>
              <a:t>Values:</a:t>
            </a:r>
            <a:r>
              <a:rPr lang="en-US" sz="1400" dirty="0"/>
              <a:t> Faith-based purpose, service to others, stewardship</a:t>
            </a:r>
          </a:p>
          <a:p>
            <a:pPr>
              <a:buNone/>
            </a:pPr>
            <a:r>
              <a:rPr lang="en-US" sz="1400" b="1" dirty="0"/>
              <a:t>Assumptions:</a:t>
            </a:r>
            <a:r>
              <a:rPr lang="en-US" sz="1400" dirty="0"/>
              <a:t> Every interaction matters. My effort is valued. I am part of something meaningful.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C0E8E-8766-7CB0-8C8F-337EA7D6C8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F15A22"/>
                </a:solidFill>
              </a:rPr>
              <a:t>Popeyes</a:t>
            </a:r>
          </a:p>
          <a:p>
            <a:pPr>
              <a:buNone/>
            </a:pPr>
            <a:r>
              <a:rPr lang="en-US" sz="1400" b="1" dirty="0"/>
              <a:t>Artifacts:</a:t>
            </a:r>
            <a:r>
              <a:rPr lang="en-US" sz="1400" dirty="0"/>
              <a:t> Varies by location, no signature script, inconsistent maintenance</a:t>
            </a:r>
          </a:p>
          <a:p>
            <a:pPr>
              <a:buNone/>
            </a:pPr>
            <a:r>
              <a:rPr lang="en-US" sz="1400" b="1" dirty="0"/>
              <a:t>Values:</a:t>
            </a:r>
            <a:r>
              <a:rPr lang="en-US" sz="1400" dirty="0"/>
              <a:t> "Inspiring servant leaders" stated but inconsistently implemented</a:t>
            </a:r>
          </a:p>
          <a:p>
            <a:pPr>
              <a:buNone/>
            </a:pPr>
            <a:r>
              <a:rPr lang="en-US" sz="1400" b="1" dirty="0"/>
              <a:t>Assumptions:</a:t>
            </a:r>
            <a:r>
              <a:rPr lang="en-US" sz="1400" dirty="0"/>
              <a:t> This job is transactional. I am replaceable. Show up, do the minimum, leave.</a:t>
            </a:r>
          </a:p>
        </p:txBody>
      </p:sp>
    </p:spTree>
    <p:extLst>
      <p:ext uri="{BB962C8B-B14F-4D97-AF65-F5344CB8AC3E}">
        <p14:creationId xmlns:p14="http://schemas.microsoft.com/office/powerpoint/2010/main" val="2401330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83EC-D2DC-42FC-AE52-DB47D921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dirty="0"/>
              <a:t>Leadership: Transformational vs. Transactional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125FF-7B51-9EA1-E89A-87259029B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E51636"/>
                </a:solidFill>
              </a:rPr>
              <a:t>Transformational (Burns 1978 / Bass 1985)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Idealized Influence</a:t>
            </a:r>
            <a:r>
              <a:rPr lang="en-US" sz="1400" dirty="0"/>
              <a:t> — Role modeling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Inspirational Motivation</a:t>
            </a:r>
            <a:r>
              <a:rPr lang="en-US" sz="1400" dirty="0"/>
              <a:t> — Shared vision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Intellectual Stimulation</a:t>
            </a:r>
            <a:r>
              <a:rPr lang="en-US" sz="1400" dirty="0"/>
              <a:t> — Challenging employees to grow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Individualized Consideration</a:t>
            </a:r>
            <a:r>
              <a:rPr lang="en-US" sz="1400" dirty="0"/>
              <a:t> — Personal development</a:t>
            </a:r>
          </a:p>
          <a:p>
            <a:pPr>
              <a:buNone/>
            </a:pPr>
            <a:r>
              <a:rPr lang="en-US" sz="1800" b="1" dirty="0">
                <a:solidFill>
                  <a:srgbClr val="F15A22"/>
                </a:solidFill>
              </a:rPr>
              <a:t>Transactional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Contingent Reward</a:t>
            </a:r>
            <a:r>
              <a:rPr lang="en-US" sz="1400" dirty="0"/>
              <a:t> — Pay for performance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/>
              <a:t>Management by Exception</a:t>
            </a:r>
            <a:r>
              <a:rPr lang="en-US" sz="1400" dirty="0"/>
              <a:t> — Intervene only when problems arise</a:t>
            </a:r>
          </a:p>
        </p:txBody>
      </p:sp>
    </p:spTree>
    <p:extLst>
      <p:ext uri="{BB962C8B-B14F-4D97-AF65-F5344CB8AC3E}">
        <p14:creationId xmlns:p14="http://schemas.microsoft.com/office/powerpoint/2010/main" val="2725454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DF04-0A88-9CDE-5704-F3467171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dirty="0"/>
              <a:t>Leadership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4B823-6E31-067B-7692-9765703DE3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E51636"/>
                </a:solidFill>
              </a:rPr>
              <a:t>CFA — Transformational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Operators on-site daily, working alongside staff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Know employees by name, mentor toward promotion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Promote from within (corporate leaders started hourly)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Scholarship programs &amp; personal development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CFAA6-645C-A320-365E-A4CCE8AE3C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F15A22"/>
                </a:solidFill>
              </a:rPr>
              <a:t>Popeyes — Transactional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Multi-unit franchisees manage from a distance via hired GMs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Contingent reward: complete shift, get paycheck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Limited mentorship or career pathing for hourly workers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Management by exception: attention only when things go wrong</a:t>
            </a:r>
          </a:p>
        </p:txBody>
      </p:sp>
    </p:spTree>
    <p:extLst>
      <p:ext uri="{BB962C8B-B14F-4D97-AF65-F5344CB8AC3E}">
        <p14:creationId xmlns:p14="http://schemas.microsoft.com/office/powerpoint/2010/main" val="1941990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2728-44ED-0CDE-116B-D3998E3E9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dirty="0"/>
              <a:t>Job Satisfaction: Herzberg's Two-Factor Theory (1959)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AE584-DF9C-2D63-3169-521C7FC35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F15A22"/>
                </a:solidFill>
              </a:rPr>
              <a:t>Hygiene Factors (Prevent Dissatisfaction)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Pay, working conditions, job security, supervision, policies</a:t>
            </a:r>
          </a:p>
          <a:p>
            <a:pPr>
              <a:buNone/>
            </a:pPr>
            <a:r>
              <a:rPr lang="en-US" sz="1800" b="1" dirty="0">
                <a:solidFill>
                  <a:srgbClr val="E51636"/>
                </a:solidFill>
              </a:rPr>
              <a:t>Motivators (Drive Satisfaction)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Achievement, recognition, the work itself, responsibility, growth</a:t>
            </a:r>
          </a:p>
          <a:p>
            <a:pPr>
              <a:buNone/>
            </a:pPr>
            <a:r>
              <a:rPr lang="en-US" sz="1600" b="1" i="1" dirty="0"/>
              <a:t>Key Insight: Meeting hygiene factors only prevents dissatisfaction. True satisfaction requires motivators. You need BOTH.</a:t>
            </a:r>
          </a:p>
        </p:txBody>
      </p:sp>
    </p:spTree>
    <p:extLst>
      <p:ext uri="{BB962C8B-B14F-4D97-AF65-F5344CB8AC3E}">
        <p14:creationId xmlns:p14="http://schemas.microsoft.com/office/powerpoint/2010/main" val="259021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414C3-EAA8-7836-AF4C-62C12D32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dirty="0"/>
              <a:t>Job Satisfaction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9A8DD-23E4-2F84-950F-E234273FC5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E51636"/>
                </a:solidFill>
              </a:rPr>
              <a:t>Chick-fil-A</a:t>
            </a:r>
          </a:p>
          <a:p>
            <a:pPr>
              <a:buNone/>
            </a:pPr>
            <a:r>
              <a:rPr lang="en-US" sz="1400" b="1" dirty="0"/>
              <a:t>Hygiene: </a:t>
            </a:r>
            <a:r>
              <a:rPr lang="en-US" sz="1400" dirty="0"/>
              <a:t>Competitive pay, clean kitchens, predictable schedules, Sundays off</a:t>
            </a:r>
          </a:p>
          <a:p>
            <a:pPr>
              <a:buNone/>
            </a:pPr>
            <a:r>
              <a:rPr lang="en-US" sz="1400" b="1" dirty="0"/>
              <a:t>Motivators: </a:t>
            </a:r>
            <a:r>
              <a:rPr lang="en-US" sz="1400" dirty="0"/>
              <a:t>$136M+ in scholarships, regular recognition, clear advancement path, supportive team culture</a:t>
            </a:r>
          </a:p>
          <a:p>
            <a:pPr>
              <a:buNone/>
            </a:pPr>
            <a:r>
              <a:rPr lang="en-US" sz="1400" b="1" dirty="0">
                <a:solidFill>
                  <a:srgbClr val="2E7D32"/>
                </a:solidFill>
              </a:rPr>
              <a:t>✓ Genuine satisfaction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D0606-F655-8F57-39AF-16D6676A17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F15A22"/>
                </a:solidFill>
              </a:rPr>
              <a:t>Popeyes</a:t>
            </a:r>
          </a:p>
          <a:p>
            <a:pPr>
              <a:buNone/>
            </a:pPr>
            <a:r>
              <a:rPr lang="en-US" sz="1400" b="1" dirty="0"/>
              <a:t>Hygiene: </a:t>
            </a:r>
            <a:r>
              <a:rPr lang="en-US" sz="1400" dirty="0"/>
              <a:t>Wages near minimum, chaotic rushes, understaffing, unpredictable scheduling</a:t>
            </a:r>
          </a:p>
          <a:p>
            <a:pPr>
              <a:buNone/>
            </a:pPr>
            <a:r>
              <a:rPr lang="en-US" sz="1400" b="1" dirty="0"/>
              <a:t>Motivators: </a:t>
            </a:r>
            <a:r>
              <a:rPr lang="en-US" sz="1400" dirty="0"/>
              <a:t>Limited growth, minimal recognition, high turnover makes investing in people feel pointless</a:t>
            </a:r>
          </a:p>
          <a:p>
            <a:pPr>
              <a:buNone/>
            </a:pPr>
            <a:r>
              <a:rPr lang="en-US" sz="1400" b="1" dirty="0">
                <a:solidFill>
                  <a:srgbClr val="C62828"/>
                </a:solidFill>
              </a:rPr>
              <a:t>✗ Active dissatisfaction</a:t>
            </a:r>
          </a:p>
        </p:txBody>
      </p:sp>
    </p:spTree>
    <p:extLst>
      <p:ext uri="{BB962C8B-B14F-4D97-AF65-F5344CB8AC3E}">
        <p14:creationId xmlns:p14="http://schemas.microsoft.com/office/powerpoint/2010/main" val="9535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1338-2ED6-2089-CE6E-7EAA58EE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dirty="0"/>
              <a:t>How It All Connects</a:t>
            </a:r>
          </a:p>
        </p:txBody>
      </p:sp>
      <p:sp>
        <p:nvSpPr>
          <p:cNvPr id="100" name="Culture Box"/>
          <p:cNvSpPr/>
          <p:nvPr/>
        </p:nvSpPr>
        <p:spPr>
          <a:xfrm>
            <a:off x="1206500" y="1968500"/>
            <a:ext cx="2476500" cy="889000"/>
          </a:xfrm>
          <a:prstGeom prst="roundRect">
            <a:avLst>
              <a:gd name="adj" fmla="val 10000"/>
            </a:avLst>
          </a:prstGeom>
          <a:solidFill>
            <a:srgbClr val="E51636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Culture (Schein)</a:t>
            </a:r>
          </a:p>
        </p:txBody>
      </p:sp>
      <p:sp>
        <p:nvSpPr>
          <p:cNvPr id="101" name="Leadership Box"/>
          <p:cNvSpPr/>
          <p:nvPr/>
        </p:nvSpPr>
        <p:spPr>
          <a:xfrm>
            <a:off x="4762500" y="1968500"/>
            <a:ext cx="2476500" cy="889000"/>
          </a:xfrm>
          <a:prstGeom prst="roundRect">
            <a:avLst>
              <a:gd name="adj" fmla="val 10000"/>
            </a:avLst>
          </a:prstGeom>
          <a:solidFill>
            <a:srgbClr val="8B1A1A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Leadership (Burns/Bass)</a:t>
            </a:r>
          </a:p>
        </p:txBody>
      </p:sp>
      <p:sp>
        <p:nvSpPr>
          <p:cNvPr id="102" name="Satisfaction Box"/>
          <p:cNvSpPr/>
          <p:nvPr/>
        </p:nvSpPr>
        <p:spPr>
          <a:xfrm>
            <a:off x="8318500" y="1968500"/>
            <a:ext cx="2476500" cy="889000"/>
          </a:xfrm>
          <a:prstGeom prst="roundRect">
            <a:avLst>
              <a:gd name="adj" fmla="val 10000"/>
            </a:avLst>
          </a:prstGeom>
          <a:solidFill>
            <a:srgbClr val="F15A22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Job Satisfaction (Herzberg)</a:t>
            </a:r>
          </a:p>
        </p:txBody>
      </p:sp>
      <p:sp>
        <p:nvSpPr>
          <p:cNvPr id="103" name="Arrow 103"/>
          <p:cNvSpPr/>
          <p:nvPr/>
        </p:nvSpPr>
        <p:spPr>
          <a:xfrm>
            <a:off x="3746500" y="2286000"/>
            <a:ext cx="889000" cy="2540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Arrow 104"/>
          <p:cNvSpPr/>
          <p:nvPr/>
        </p:nvSpPr>
        <p:spPr>
          <a:xfrm>
            <a:off x="7302500" y="2286000"/>
            <a:ext cx="889000" cy="25400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Label1"/>
          <p:cNvSpPr/>
          <p:nvPr/>
        </p:nvSpPr>
        <p:spPr>
          <a:xfrm>
            <a:off x="1206500" y="2921000"/>
            <a:ext cx="2476500" cy="35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Sets the ENVIRONMENT</a:t>
            </a:r>
          </a:p>
        </p:txBody>
      </p:sp>
      <p:sp>
        <p:nvSpPr>
          <p:cNvPr id="106" name="Label2"/>
          <p:cNvSpPr/>
          <p:nvPr/>
        </p:nvSpPr>
        <p:spPr>
          <a:xfrm>
            <a:off x="4762500" y="2921000"/>
            <a:ext cx="2476500" cy="35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TRANSMITS daily</a:t>
            </a:r>
          </a:p>
        </p:txBody>
      </p:sp>
      <p:sp>
        <p:nvSpPr>
          <p:cNvPr id="107" name="Label3"/>
          <p:cNvSpPr/>
          <p:nvPr/>
        </p:nvSpPr>
        <p:spPr>
          <a:xfrm>
            <a:off x="8318500" y="2921000"/>
            <a:ext cx="2476500" cy="35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Measurable OUTCOME</a:t>
            </a:r>
          </a:p>
        </p:txBody>
      </p:sp>
      <p:sp>
        <p:nvSpPr>
          <p:cNvPr id="108" name="DArrow 108"/>
          <p:cNvSpPr/>
          <p:nvPr/>
        </p:nvSpPr>
        <p:spPr>
          <a:xfrm>
            <a:off x="5715000" y="3327400"/>
            <a:ext cx="254000" cy="355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CFA Outcome"/>
          <p:cNvSpPr/>
          <p:nvPr/>
        </p:nvSpPr>
        <p:spPr>
          <a:xfrm>
            <a:off x="1206500" y="3746500"/>
            <a:ext cx="4953000" cy="6985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CFA: Strong culture + Transformational + Both factors met</a:t>
            </a:r>
          </a:p>
        </p:txBody>
      </p:sp>
      <p:sp>
        <p:nvSpPr>
          <p:cNvPr id="110" name="Arrow 110"/>
          <p:cNvSpPr/>
          <p:nvPr/>
        </p:nvSpPr>
        <p:spPr>
          <a:xfrm>
            <a:off x="6223000" y="3962400"/>
            <a:ext cx="381000" cy="25400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CFA Result"/>
          <p:cNvSpPr/>
          <p:nvPr/>
        </p:nvSpPr>
        <p:spPr>
          <a:xfrm>
            <a:off x="6667500" y="3746500"/>
            <a:ext cx="4191000" cy="6985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High satisfaction, low turnover, excellent service</a:t>
            </a:r>
          </a:p>
        </p:txBody>
      </p:sp>
      <p:sp>
        <p:nvSpPr>
          <p:cNvPr id="112" name="Pop Outcome"/>
          <p:cNvSpPr/>
          <p:nvPr/>
        </p:nvSpPr>
        <p:spPr>
          <a:xfrm>
            <a:off x="1206500" y="4572000"/>
            <a:ext cx="4953000" cy="6985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Popeyes: Weak culture + Transactional + Factors unmet</a:t>
            </a:r>
          </a:p>
        </p:txBody>
      </p:sp>
      <p:sp>
        <p:nvSpPr>
          <p:cNvPr id="113" name="Arrow 113"/>
          <p:cNvSpPr/>
          <p:nvPr/>
        </p:nvSpPr>
        <p:spPr>
          <a:xfrm>
            <a:off x="6223000" y="4787900"/>
            <a:ext cx="381000" cy="254000"/>
          </a:xfrm>
          <a:prstGeom prst="rightArrow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Pop Result"/>
          <p:cNvSpPr/>
          <p:nvPr/>
        </p:nvSpPr>
        <p:spPr>
          <a:xfrm>
            <a:off x="6667500" y="4572000"/>
            <a:ext cx="4191000" cy="6985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txBody>
          <a:bodyPr wrap="square" lIns="45720" tIns="36576" rIns="45720" bIns="36576" anchor="ctr" anchorCtr="0"/>
          <a:lstStyle/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Dissatisfaction, high turnover, poor service</a:t>
            </a:r>
          </a:p>
        </p:txBody>
      </p:sp>
    </p:spTree>
    <p:extLst>
      <p:ext uri="{BB962C8B-B14F-4D97-AF65-F5344CB8AC3E}">
        <p14:creationId xmlns:p14="http://schemas.microsoft.com/office/powerpoint/2010/main" val="2613417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C4A97-CFBC-B560-D8CD-455A90329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F5412-F313-F9FE-10ED-BA0BD8AA2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600" dirty="0"/>
              <a:t>Employee success is not about the product — it is about how organizations invest in their people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Culture must be intentional and reinforced at every level, not just stated in a mission document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Transformational leadership produces dramatically different outcomes than transactional management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Meeting hygiene factors is table stakes. Real engagement comes from motivators like recognition, growth, and purpose</a:t>
            </a:r>
          </a:p>
          <a:p>
            <a:pPr marL="228600" indent="-228600">
              <a:buFont typeface="Arial"/>
              <a:buChar char="•"/>
            </a:pPr>
            <a:r>
              <a:rPr lang="en-US" sz="1800" b="1" i="1" dirty="0"/>
              <a:t>The gap between Chick-fil-A and Popeyes is not about chicken. It is about people.</a:t>
            </a:r>
          </a:p>
        </p:txBody>
      </p:sp>
    </p:spTree>
    <p:extLst>
      <p:ext uri="{BB962C8B-B14F-4D97-AF65-F5344CB8AC3E}">
        <p14:creationId xmlns:p14="http://schemas.microsoft.com/office/powerpoint/2010/main" val="26149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A9F8-82CF-CBDF-1952-EE5714C9F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3288C-680A-8F97-36B7-5520DE6AC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200" dirty="0"/>
              <a:t>American Customer Satisfaction Index. (2023). Restaurant study 2022-2023.</a:t>
            </a:r>
          </a:p>
          <a:p>
            <a:pPr>
              <a:buNone/>
            </a:pPr>
            <a:r>
              <a:rPr lang="en-US" sz="1200" dirty="0"/>
              <a:t>Bachelder, C. (2015). </a:t>
            </a:r>
            <a:r>
              <a:rPr lang="en-US" sz="1200" i="1" dirty="0"/>
              <a:t>Dare to serve.</a:t>
            </a:r>
            <a:r>
              <a:rPr lang="en-US" sz="1200" dirty="0"/>
              <a:t> Berrett-Koehler.</a:t>
            </a:r>
          </a:p>
          <a:p>
            <a:pPr>
              <a:buNone/>
            </a:pPr>
            <a:r>
              <a:rPr lang="en-US" sz="1200" dirty="0"/>
              <a:t>Bass, B. M. (1985). </a:t>
            </a:r>
            <a:r>
              <a:rPr lang="en-US" sz="1200" i="1" dirty="0"/>
              <a:t>Leadership and performance beyond expectations.</a:t>
            </a:r>
            <a:r>
              <a:rPr lang="en-US" sz="1200" dirty="0"/>
              <a:t> Free Press.</a:t>
            </a:r>
          </a:p>
          <a:p>
            <a:pPr>
              <a:buNone/>
            </a:pPr>
            <a:r>
              <a:rPr lang="en-US" sz="1200" dirty="0"/>
              <a:t>Burns, J. M. (1978). </a:t>
            </a:r>
            <a:r>
              <a:rPr lang="en-US" sz="1200" i="1" dirty="0"/>
              <a:t>Leadership.</a:t>
            </a:r>
            <a:r>
              <a:rPr lang="en-US" sz="1200" dirty="0"/>
              <a:t> Harper &amp; Row.</a:t>
            </a:r>
          </a:p>
          <a:p>
            <a:pPr>
              <a:buNone/>
            </a:pPr>
            <a:r>
              <a:rPr lang="en-US" sz="1200" dirty="0"/>
              <a:t>Cathy, S. T. (2002). </a:t>
            </a:r>
            <a:r>
              <a:rPr lang="en-US" sz="1200" i="1" dirty="0"/>
              <a:t>Eat Mor Chikin: Inspire more people.</a:t>
            </a:r>
            <a:r>
              <a:rPr lang="en-US" sz="1200" dirty="0"/>
              <a:t> Looking Glass Books.</a:t>
            </a:r>
          </a:p>
          <a:p>
            <a:pPr>
              <a:buNone/>
            </a:pPr>
            <a:r>
              <a:rPr lang="en-US" sz="1200" dirty="0"/>
              <a:t>Chick-fil-A. (2023). Remarkable Futures scholarships.</a:t>
            </a:r>
          </a:p>
          <a:p>
            <a:pPr>
              <a:buNone/>
            </a:pPr>
            <a:r>
              <a:rPr lang="en-US" sz="1200" dirty="0"/>
              <a:t>Herzberg, F. (1959). </a:t>
            </a:r>
            <a:r>
              <a:rPr lang="en-US" sz="1200" i="1" dirty="0"/>
              <a:t>The motivation to work.</a:t>
            </a:r>
            <a:r>
              <a:rPr lang="en-US" sz="1200" dirty="0"/>
              <a:t> Wiley.</a:t>
            </a:r>
          </a:p>
          <a:p>
            <a:pPr>
              <a:buNone/>
            </a:pPr>
            <a:r>
              <a:rPr lang="en-US" sz="1200" dirty="0"/>
              <a:t>National Restaurant Association. (2023). 2023 state of the restaurant industry report.</a:t>
            </a:r>
          </a:p>
          <a:p>
            <a:pPr>
              <a:buNone/>
            </a:pPr>
            <a:r>
              <a:rPr lang="en-US" sz="1200" dirty="0"/>
              <a:t>Schein, E. H. (1985). </a:t>
            </a:r>
            <a:r>
              <a:rPr lang="en-US" sz="1200" i="1" dirty="0"/>
              <a:t>Organizational culture and leadership.</a:t>
            </a:r>
            <a:r>
              <a:rPr lang="en-US" sz="1200" dirty="0"/>
              <a:t> Jossey-Bass.</a:t>
            </a:r>
          </a:p>
        </p:txBody>
      </p:sp>
    </p:spTree>
    <p:extLst>
      <p:ext uri="{BB962C8B-B14F-4D97-AF65-F5344CB8AC3E}">
        <p14:creationId xmlns:p14="http://schemas.microsoft.com/office/powerpoint/2010/main" val="784148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 [1774178435692]">
  <a:themeElements>
    <a:clrScheme name="Warm Brands">
      <a:dk1>
        <a:srgbClr val="1A1A1A"/>
      </a:dk1>
      <a:lt1>
        <a:srgbClr val="FFFFFF"/>
      </a:lt1>
      <a:dk2>
        <a:srgbClr val="5B1A2A"/>
      </a:dk2>
      <a:lt2>
        <a:srgbClr val="F5F0EB"/>
      </a:lt2>
      <a:accent1>
        <a:srgbClr val="C8102E"/>
      </a:accent1>
      <a:accent2>
        <a:srgbClr val="E35205"/>
      </a:accent2>
      <a:accent3>
        <a:srgbClr val="7B2D3B"/>
      </a:accent3>
      <a:accent4>
        <a:srgbClr val="D4A853"/>
      </a:accent4>
      <a:accent5>
        <a:srgbClr val="3D3D3D"/>
      </a:accent5>
      <a:accent6>
        <a:srgbClr val="E07A5F"/>
      </a:accent6>
      <a:hlink>
        <a:srgbClr val="C8102E"/>
      </a:hlink>
      <a:folHlink>
        <a:srgbClr val="7B2D3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1B2EF9-4D9B-7241-B7D1-95239177859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417</TotalTime>
  <Words>949</Words>
  <Application>Microsoft Macintosh PowerPoint</Application>
  <PresentationFormat>Widescreen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Ion Boardroom [1774178435692]</vt:lpstr>
      <vt:lpstr>Chick-fil-A vs. Popeyes Why Employees Make the Difference</vt:lpstr>
      <vt:lpstr>Agenda</vt:lpstr>
      <vt:lpstr>Chick-fil-A Overview</vt:lpstr>
      <vt:lpstr>Popeyes Overview</vt:lpstr>
      <vt:lpstr>How We Define Success</vt:lpstr>
      <vt:lpstr>The Three Elements We Analyzed</vt:lpstr>
      <vt:lpstr>Organizational Culture: Schein's Three Levels (1985)</vt:lpstr>
      <vt:lpstr>Culture Comparison</vt:lpstr>
      <vt:lpstr>Leadership: Transformational vs. Transactional</vt:lpstr>
      <vt:lpstr>Leadership Comparison</vt:lpstr>
      <vt:lpstr>Job Satisfaction: Herzberg's Two-Factor Theory (1959)</vt:lpstr>
      <vt:lpstr>Job Satisfaction Comparison</vt:lpstr>
      <vt:lpstr>How It All Connects</vt:lpstr>
      <vt:lpstr>Key Takeaways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Tigoue</dc:creator>
  <cp:lastModifiedBy>Emmanuel Tigoue</cp:lastModifiedBy>
  <cp:revision>2</cp:revision>
  <dcterms:created xsi:type="dcterms:W3CDTF">2026-03-22T07:31:02Z</dcterms:created>
  <dcterms:modified xsi:type="dcterms:W3CDTF">2026-03-22T17:32:35Z</dcterms:modified>
</cp:coreProperties>
</file>