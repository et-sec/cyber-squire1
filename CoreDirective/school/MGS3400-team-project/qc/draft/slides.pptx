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30-40 sec — REMINDER to team: replace "[add names]" on the title slide before submitting]</a:t>
            </a:r>
          </a:p>
          <a:p>
            <a:r>
              <a:t>Quick intros: each member says name and which section they're presenting.</a:t>
            </a:r>
          </a:p>
          <a:p/>
          <a:p>
            <a:r>
              <a:t>Lead-in line: We picked Chick-fil-A and Popeyes because they hire from the same labor pool, sit on the same intersections, and produce nothing alike at the counter. Today we walk through why.</a:t>
            </a:r>
          </a:p>
          <a:p/>
          <a:p>
            <a:r>
              <a:t>[handoff to next presenter]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30 sec]</a:t>
            </a:r>
          </a:p>
          <a:p>
            <a:r>
              <a:t>Walk the seven items quickly. Note that the framework slides come before each comparison so the audience has the theory in mind before the contrast.</a:t>
            </a:r>
          </a:p>
          <a:p/>
          <a:p>
            <a:r>
              <a:t>Time check: total 15 min. Build in roughly 30 sec of buffer for hand-offs between members.</a:t>
            </a:r>
          </a:p>
          <a:p/>
          <a:p>
            <a:r>
              <a:t>If running short, drop the synthesis slide (#13) and go straight to takeaways.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[CFA OVERVIEW, ~1 min]</a:t>
            </a:r>
          </a:p>
          <a:p>
            <a:r>
              <a:t>Three things to land:</a:t>
            </a:r>
          </a:p>
          <a:p>
            <a:r>
              <a:t>- The Operator model is the structural reason the culture works. One leader per store, on the floor every day, with skin in the game.</a:t>
            </a:r>
          </a:p>
          <a:p>
            <a:r>
              <a:t>- Sunday closure is the most visible artifact and signals values to both employees and customers.</a:t>
            </a:r>
          </a:p>
          <a:p>
            <a:r>
              <a:t>- The 1 percent operator acceptance number is real. CFA receives roughly 40,000 applications a year and selects around 100-115 Operators. The economics are unusual too: the $10,000 fee is the lowest among major QSR franchises, but Operators do not own the asset and cannot run multiple stores.</a:t>
            </a:r>
          </a:p>
          <a:p/>
          <a:p>
            <a:r>
              <a:t>[handoff to Popeyes presenter]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[POPEYES OVERVIEW, ~1 min]</a:t>
            </a:r>
          </a:p>
          <a:p>
            <a:r>
              <a:t>Worth noting that Popeyes is now larger than Chick-fil-A by global store count (4,200 vs 3,000) but produces a very different employee experience.</a:t>
            </a:r>
          </a:p>
          <a:p/>
          <a:p>
            <a:r>
              <a:t>Bachelder's framework was real. Her 2015 book Dare to Serve documents the servant-leadership turnaround. The corporate intent was good. The execution at the franchise level did not follow because the franchise structure does not require the franchisee to be in the store.</a:t>
            </a:r>
          </a:p>
          <a:p/>
          <a:p>
            <a:r>
              <a:t>[handoff to success-metrics presenter]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METRICS, ~1 min]</a:t>
            </a:r>
          </a:p>
          <a:p>
            <a:r>
              <a:t>Read columns left to right. Same gap on every measure.</a:t>
            </a:r>
          </a:p>
          <a:p/>
          <a:p>
            <a:r>
              <a:t>Sources to cite if asked:</a:t>
            </a:r>
          </a:p>
          <a:p>
            <a:r>
              <a:t>- ACSI 2023 fast-food study</a:t>
            </a:r>
          </a:p>
          <a:p>
            <a:r>
              <a:t>- DailyPay 2023 QSR turnover benchmark</a:t>
            </a:r>
          </a:p>
          <a:p>
            <a:r>
              <a:t>- Our team's in-store visits at Camp Creek Marketplace (CFA + Popeyes pair) and Peachtree/Buckhead (CFA + Popeyes pair) during weekday lunch rushes the week of [insert date]</a:t>
            </a:r>
          </a:p>
          <a:p/>
          <a:p>
            <a:r>
              <a:t>The 60 percent CFA hourly turnover sounds bad in isolation. Compared to the QSR baseline of 130 to 150 percent annually, it is less than half the industry rate.</a:t>
            </a:r>
          </a:p>
          <a:p/>
          <a:p>
            <a:r>
              <a:t>Hand off to Person 1 for the three components overview.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COMPONENTS OVERVIEW, ~1 min]</a:t>
            </a:r>
          </a:p>
          <a:p>
            <a:r>
              <a:t>Why these three: they form the integrative chain in our textbook. Culture is the environment. Leadership shapes behavior in that environment. Satisfaction is the resulting outcome.</a:t>
            </a:r>
          </a:p>
          <a:p/>
          <a:p>
            <a:r>
              <a:t>We considered team dynamics and motivation as well. Team dynamics tends to follow from culture and leadership rather than driving them. Motivation overlaps heavily with what Herzberg already covers.</a:t>
            </a:r>
          </a:p>
          <a:p/>
          <a:p>
            <a:r>
              <a:t>Next six slides: framework slide, then comparison slide, repeated for each component.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[SCHEIN FRAMEWORK, ~1 min]</a:t>
            </a:r>
          </a:p>
          <a:p>
            <a:r>
              <a:t>Walk down the iceberg.</a:t>
            </a:r>
          </a:p>
          <a:p>
            <a:r>
              <a:t>- Artifacts are above the waterline. Anyone can audit them in five minutes per store.</a:t>
            </a:r>
          </a:p>
          <a:p>
            <a:r>
              <a:t>- Espoused values are what gets printed on the mission statement.</a:t>
            </a:r>
          </a:p>
          <a:p>
            <a:r>
              <a:t>- Basic assumptions are below the waterline. They are what an employee actually believes about whether their effort matters and whether they are replaceable.</a:t>
            </a:r>
          </a:p>
          <a:p/>
          <a:p>
            <a:r>
              <a:t>The next slide applies all three layers to Chick-fil-A and Popeyes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[CULTURE COMPARISON, ~2 min]</a:t>
            </a:r>
          </a:p>
          <a:p>
            <a:r>
              <a:t>Read across each row.</a:t>
            </a:r>
          </a:p>
          <a:p/>
          <a:p>
            <a:r>
              <a:t>Artifacts row: walk into any Chick-fil-A and the experience feels the same store to store. Walk into two Popeyes locations in the same week and they can feel like different chains. Our Camp Creek Popeyes had a broken digital menu board the day we visited, the Buckhead one did not.</a:t>
            </a:r>
          </a:p>
          <a:p/>
          <a:p>
            <a:r>
              <a:t>Values row: CFA repeats its purpose statement constantly in training. Popeyes has a corporate framework but most front-line workers we saw could not tell us what it was.</a:t>
            </a:r>
          </a:p>
          <a:p/>
          <a:p>
            <a:r>
              <a:t>Assumptions row: this is where the gap shows up in behavior. If a worker assumes effort matters, they give effort. If they assume they are replaceable, they do the minimum.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[LEADERSHIP FRAMEWORK, ~1 min]</a:t>
            </a:r>
          </a:p>
          <a:p>
            <a:r>
              <a:t>Bass developed this framework empirically from surveys of military and corporate leaders. The four transformational behaviors on the left are well-validated predictors of follower commitment.</a:t>
            </a:r>
          </a:p>
          <a:p/>
          <a:p>
            <a:r>
              <a:t>Transactional leadership has its place. Most workplaces need some of it. The point of the comparison is which mode dominates day to day at each chain.</a:t>
            </a:r>
          </a:p>
          <a:p/>
          <a:p>
            <a:r>
              <a:t>Next slide applies this to our two companies.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[LEADERSHIP COMPARISON, ~2 min]</a:t>
            </a:r>
          </a:p>
          <a:p>
            <a:r>
              <a:t>Structural difference matters more than any leadership training program could. CFA built transformational leadership into the franchise contract by requiring a single Operator on-site. Popeyes built transactional leadership into theirs by allowing absentee multi-unit ownership.</a:t>
            </a:r>
          </a:p>
          <a:p/>
          <a:p>
            <a:r>
              <a:t>When the on-site leader has equity in the outcome and is required to be present, transformational behaviors become the easier path. When the on-site leader is a salaried general manager covering for an absent franchisee, transactional behaviors become the easier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[HERZBERG FRAMEWORK, ~1 min]</a:t>
            </a:r>
          </a:p>
          <a:p>
            <a:r>
              <a:t>Herzberg's key insight is that hygiene and motivators sit on two separate scales rather than two ends of one scale.</a:t>
            </a:r>
          </a:p>
          <a:p/>
          <a:p>
            <a:r>
              <a:t>Solving hygiene problems takes a worker from miserable to neutral. Adding motivators takes a worker from neutral to engaged. Skipping the first to get to the second does not work.</a:t>
            </a:r>
          </a:p>
          <a:p/>
          <a:p>
            <a:r>
              <a:t>[verify Herzberg page citation if Conklin asks for one — Mausner &amp; Snyderman 1959 ch. 3]</a:t>
            </a:r>
          </a:p>
          <a:p/>
          <a:p>
            <a:r>
              <a:t>Apply this to the two chains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[SATISFACTION COMPARISON, ~2 min]</a:t>
            </a:r>
          </a:p>
          <a:p>
            <a:r>
              <a:t>Herzberg predicts that when hygiene factors are unmet, no level of motivators can compensate. Popeyes does not have either category solved at the franchise level, which is why the model predicts the dissatisfaction we see.</a:t>
            </a:r>
          </a:p>
          <a:p/>
          <a:p>
            <a:r>
              <a:t>CFA's $162 million in scholarships is a real motivator. It signals the company is willing to spend on the long-term path of people working the cash register, even though store-level operating costs would be lower without it.</a:t>
            </a:r>
          </a:p>
          <a:p/>
          <a:p>
            <a:r>
              <a:t>[handoff to synthesis presenter]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[SYNTHESIS, ~1.5 min]</a:t>
            </a:r>
          </a:p>
          <a:p>
            <a:r>
              <a:t>This is the key slide.</a:t>
            </a:r>
          </a:p>
          <a:p/>
          <a:p>
            <a:r>
              <a:t>Three components feed each other. CFA's structure produces transformational leadership at every store. That leadership sustains the strong culture. The strong culture lets the company satisfy both Herzberg categories.</a:t>
            </a:r>
          </a:p>
          <a:p/>
          <a:p>
            <a:r>
              <a:t>Popeyes's structure prevents transformational leadership at the store. Without that leadership the local culture stays weak. Without the culture the company is left relying on hygiene factors that are themselves underfunded.</a:t>
            </a:r>
          </a:p>
          <a:p/>
          <a:p>
            <a:r>
              <a:t>Two chains hiring from the same labor pool produce different employees because the structures around the workers are different.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[TAKEAWAYS, ~1.5 min]</a:t>
            </a:r>
          </a:p>
          <a:p>
            <a:r>
              <a:t>Slow down on the three numbered points. Audience should walk out remembering at least these.</a:t>
            </a:r>
          </a:p>
          <a:p/>
          <a:p>
            <a:r>
              <a:t>Closing line: keep it short. The argument is about structure. Resist the urge to broaden it into a motivational pitch.</a:t>
            </a:r>
          </a:p>
          <a:p/>
          <a:p>
            <a:r>
              <a:t>[if running long, drop this slide's hero band and end on the three numbered points]</a:t>
            </a:r>
          </a:p>
          <a:p/>
          <a:p>
            <a:r>
              <a:t>[handoff to references / Q&amp;A presenter]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 Q&amp;A, 30 sec to start, then open]</a:t>
            </a:r>
          </a:p>
          <a:p>
            <a:r>
              <a:t>References stay up during Q&amp;A. Common questions to expect:</a:t>
            </a:r>
          </a:p>
          <a:p>
            <a:r>
              <a:t>- What about pay differences? CFA pays roughly $11-13/hr starting in Atlanta, Popeyes $10-11/hr. Real but small. Not the main driver.</a:t>
            </a:r>
          </a:p>
          <a:p>
            <a:r>
              <a:t>- Could Popeyes adopt the Operator model? Probably not without restructuring the franchise contract, which RBI is unlikely to do given the current portfolio.</a:t>
            </a:r>
          </a:p>
          <a:p>
            <a:r>
              <a:t>- What did we observe that surprised us? The Camp Creek Popeyes had a manager visibly stressed during the lunch rush. The Camp Creek CFA had a team leader walking the line and refilling drinks for waiting cars. Same intersection, same labor pool.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91695" cy="182880"/>
          </a:xfrm>
          <a:prstGeom prst="rect">
            <a:avLst/>
          </a:prstGeom>
          <a:solidFill>
            <a:srgbClr val="F15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0"/>
            <a:ext cx="10817352" cy="1188720"/>
          </a:xfrm>
          <a:prstGeom prst="rect">
            <a:avLst/>
          </a:prstGeom>
          <a:noFill/>
        </p:spPr>
        <p:txBody>
          <a:bodyPr wrap="square" anchor="t" lIns="45720" rIns="45720">
            <a:spAutoFit/>
          </a:bodyPr>
          <a:lstStyle/>
          <a:p>
            <a:pPr algn="ctr"/>
            <a:r>
              <a:rPr sz="5400" b="1" i="0">
                <a:solidFill>
                  <a:srgbClr val="2C3E50"/>
                </a:solidFill>
                <a:latin typeface="Calibri"/>
              </a:rPr>
              <a:t>Chick-fil-A vs. Popeyes</a:t>
            </a:r>
          </a:p>
        </p:txBody>
      </p:sp>
      <p:sp>
        <p:nvSpPr>
          <p:cNvPr id="5" name="TextBox 4"/>
          <p:cNvSpPr txBox="1"/>
          <p:nvPr/>
        </p:nvSpPr>
        <p:spPr>
          <a:xfrm>
            <a:off x="685800" y="3200400"/>
            <a:ext cx="10817352" cy="731520"/>
          </a:xfrm>
          <a:prstGeom prst="rect">
            <a:avLst/>
          </a:prstGeom>
          <a:noFill/>
        </p:spPr>
        <p:txBody>
          <a:bodyPr wrap="square" anchor="t" lIns="45720" rIns="45720">
            <a:spAutoFit/>
          </a:bodyPr>
          <a:lstStyle/>
          <a:p>
            <a:pPr algn="ctr"/>
            <a:r>
              <a:rPr sz="2800" b="0" i="1">
                <a:solidFill>
                  <a:srgbClr val="555555"/>
                </a:solidFill>
                <a:latin typeface="Calibri"/>
              </a:rPr>
              <a:t>Why Employees Make the Difference at the Counter</a:t>
            </a:r>
          </a:p>
        </p:txBody>
      </p:sp>
      <p:sp>
        <p:nvSpPr>
          <p:cNvPr id="6" name="TextBox 5"/>
          <p:cNvSpPr txBox="1"/>
          <p:nvPr/>
        </p:nvSpPr>
        <p:spPr>
          <a:xfrm>
            <a:off x="685800" y="5120640"/>
            <a:ext cx="10817352" cy="548640"/>
          </a:xfrm>
          <a:prstGeom prst="rect">
            <a:avLst/>
          </a:prstGeom>
          <a:noFill/>
        </p:spPr>
        <p:txBody>
          <a:bodyPr wrap="square" anchor="t" lIns="45720" rIns="45720">
            <a:spAutoFit/>
          </a:bodyPr>
          <a:lstStyle/>
          <a:p>
            <a:pPr algn="ctr"/>
            <a:r>
              <a:rPr sz="1800" b="0" i="0">
                <a:solidFill>
                  <a:srgbClr val="222222"/>
                </a:solidFill>
                <a:latin typeface="Calibri"/>
              </a:rPr>
              <a:t>MGS 3400  |  Organizational Behavior  |  Team Project</a:t>
            </a:r>
          </a:p>
        </p:txBody>
      </p:sp>
      <p:sp>
        <p:nvSpPr>
          <p:cNvPr id="7" name="TextBox 6"/>
          <p:cNvSpPr txBox="1"/>
          <p:nvPr/>
        </p:nvSpPr>
        <p:spPr>
          <a:xfrm>
            <a:off x="685800" y="5669280"/>
            <a:ext cx="10817352" cy="548640"/>
          </a:xfrm>
          <a:prstGeom prst="rect">
            <a:avLst/>
          </a:prstGeom>
          <a:noFill/>
        </p:spPr>
        <p:txBody>
          <a:bodyPr wrap="square" anchor="t" lIns="45720" rIns="45720">
            <a:spAutoFit/>
          </a:bodyPr>
          <a:lstStyle/>
          <a:p>
            <a:pPr algn="ctr"/>
            <a:r>
              <a:rPr sz="1400" b="0" i="1">
                <a:solidFill>
                  <a:srgbClr val="555555"/>
                </a:solidFill>
                <a:latin typeface="Calibri"/>
              </a:rPr>
              <a:t>Team: [add names before submitting]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4000" b="1" i="0">
                <a:solidFill>
                  <a:srgbClr val="2C3E50"/>
                </a:solidFill>
                <a:latin typeface="Calibri"/>
              </a:rPr>
              <a:t>Agenda</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8686800" cy="502920"/>
          </a:xfrm>
          <a:prstGeom prst="rect">
            <a:avLst/>
          </a:prstGeom>
          <a:noFill/>
        </p:spPr>
        <p:txBody>
          <a:bodyPr wrap="square" anchor="ctr" lIns="45720" rIns="45720">
            <a:spAutoFit/>
          </a:bodyPr>
          <a:lstStyle/>
          <a:p>
            <a:pPr algn="l"/>
            <a:r>
              <a:rPr sz="2000" b="0" i="0">
                <a:solidFill>
                  <a:srgbClr val="222222"/>
                </a:solidFill>
                <a:latin typeface="Calibri"/>
              </a:rPr>
              <a:t>1.  The two companies</a:t>
            </a:r>
          </a:p>
        </p:txBody>
      </p:sp>
      <p:sp>
        <p:nvSpPr>
          <p:cNvPr id="5" name="TextBox 4"/>
          <p:cNvSpPr txBox="1"/>
          <p:nvPr/>
        </p:nvSpPr>
        <p:spPr>
          <a:xfrm>
            <a:off x="9692640" y="1691640"/>
            <a:ext cx="1828800" cy="502920"/>
          </a:xfrm>
          <a:prstGeom prst="rect">
            <a:avLst/>
          </a:prstGeom>
          <a:noFill/>
        </p:spPr>
        <p:txBody>
          <a:bodyPr wrap="square" anchor="ctr" lIns="45720" rIns="45720">
            <a:spAutoFit/>
          </a:bodyPr>
          <a:lstStyle/>
          <a:p>
            <a:pPr algn="r"/>
            <a:r>
              <a:rPr sz="1600" b="0" i="1">
                <a:solidFill>
                  <a:srgbClr val="555555"/>
                </a:solidFill>
                <a:latin typeface="Calibri"/>
              </a:rPr>
              <a:t>2 min</a:t>
            </a:r>
          </a:p>
        </p:txBody>
      </p:sp>
      <p:sp>
        <p:nvSpPr>
          <p:cNvPr id="6" name="TextBox 5"/>
          <p:cNvSpPr txBox="1"/>
          <p:nvPr/>
        </p:nvSpPr>
        <p:spPr>
          <a:xfrm>
            <a:off x="914400" y="2286000"/>
            <a:ext cx="8686800" cy="502920"/>
          </a:xfrm>
          <a:prstGeom prst="rect">
            <a:avLst/>
          </a:prstGeom>
          <a:noFill/>
        </p:spPr>
        <p:txBody>
          <a:bodyPr wrap="square" anchor="ctr" lIns="45720" rIns="45720">
            <a:spAutoFit/>
          </a:bodyPr>
          <a:lstStyle/>
          <a:p>
            <a:pPr algn="l"/>
            <a:r>
              <a:rPr sz="2000" b="0" i="0">
                <a:solidFill>
                  <a:srgbClr val="222222"/>
                </a:solidFill>
                <a:latin typeface="Calibri"/>
              </a:rPr>
              <a:t>2.  How we define success</a:t>
            </a:r>
          </a:p>
        </p:txBody>
      </p:sp>
      <p:sp>
        <p:nvSpPr>
          <p:cNvPr id="7" name="TextBox 6"/>
          <p:cNvSpPr txBox="1"/>
          <p:nvPr/>
        </p:nvSpPr>
        <p:spPr>
          <a:xfrm>
            <a:off x="9692640" y="2286000"/>
            <a:ext cx="1828800" cy="502920"/>
          </a:xfrm>
          <a:prstGeom prst="rect">
            <a:avLst/>
          </a:prstGeom>
          <a:noFill/>
        </p:spPr>
        <p:txBody>
          <a:bodyPr wrap="square" anchor="ctr" lIns="45720" rIns="45720">
            <a:spAutoFit/>
          </a:bodyPr>
          <a:lstStyle/>
          <a:p>
            <a:pPr algn="r"/>
            <a:r>
              <a:rPr sz="1600" b="0" i="1">
                <a:solidFill>
                  <a:srgbClr val="555555"/>
                </a:solidFill>
                <a:latin typeface="Calibri"/>
              </a:rPr>
              <a:t>1 min</a:t>
            </a:r>
          </a:p>
        </p:txBody>
      </p:sp>
      <p:sp>
        <p:nvSpPr>
          <p:cNvPr id="8" name="TextBox 7"/>
          <p:cNvSpPr txBox="1"/>
          <p:nvPr/>
        </p:nvSpPr>
        <p:spPr>
          <a:xfrm>
            <a:off x="914400" y="2880360"/>
            <a:ext cx="8686800" cy="502920"/>
          </a:xfrm>
          <a:prstGeom prst="rect">
            <a:avLst/>
          </a:prstGeom>
          <a:noFill/>
        </p:spPr>
        <p:txBody>
          <a:bodyPr wrap="square" anchor="ctr" lIns="45720" rIns="45720">
            <a:spAutoFit/>
          </a:bodyPr>
          <a:lstStyle/>
          <a:p>
            <a:pPr algn="l"/>
            <a:r>
              <a:rPr sz="2000" b="0" i="0">
                <a:solidFill>
                  <a:srgbClr val="222222"/>
                </a:solidFill>
                <a:latin typeface="Calibri"/>
              </a:rPr>
              <a:t>3.  Component one: Organizational Culture (Schein)</a:t>
            </a:r>
          </a:p>
        </p:txBody>
      </p:sp>
      <p:sp>
        <p:nvSpPr>
          <p:cNvPr id="9" name="TextBox 8"/>
          <p:cNvSpPr txBox="1"/>
          <p:nvPr/>
        </p:nvSpPr>
        <p:spPr>
          <a:xfrm>
            <a:off x="9692640" y="2880360"/>
            <a:ext cx="1828800" cy="502920"/>
          </a:xfrm>
          <a:prstGeom prst="rect">
            <a:avLst/>
          </a:prstGeom>
          <a:noFill/>
        </p:spPr>
        <p:txBody>
          <a:bodyPr wrap="square" anchor="ctr" lIns="45720" rIns="45720">
            <a:spAutoFit/>
          </a:bodyPr>
          <a:lstStyle/>
          <a:p>
            <a:pPr algn="r"/>
            <a:r>
              <a:rPr sz="1600" b="0" i="1">
                <a:solidFill>
                  <a:srgbClr val="555555"/>
                </a:solidFill>
                <a:latin typeface="Calibri"/>
              </a:rPr>
              <a:t>3 min</a:t>
            </a:r>
          </a:p>
        </p:txBody>
      </p:sp>
      <p:sp>
        <p:nvSpPr>
          <p:cNvPr id="10" name="TextBox 9"/>
          <p:cNvSpPr txBox="1"/>
          <p:nvPr/>
        </p:nvSpPr>
        <p:spPr>
          <a:xfrm>
            <a:off x="914400" y="3474720"/>
            <a:ext cx="8686800" cy="502920"/>
          </a:xfrm>
          <a:prstGeom prst="rect">
            <a:avLst/>
          </a:prstGeom>
          <a:noFill/>
        </p:spPr>
        <p:txBody>
          <a:bodyPr wrap="square" anchor="ctr" lIns="45720" rIns="45720">
            <a:spAutoFit/>
          </a:bodyPr>
          <a:lstStyle/>
          <a:p>
            <a:pPr algn="l"/>
            <a:r>
              <a:rPr sz="2000" b="0" i="0">
                <a:solidFill>
                  <a:srgbClr val="222222"/>
                </a:solidFill>
                <a:latin typeface="Calibri"/>
              </a:rPr>
              <a:t>4.  Component two: Leadership (Burns and Bass)</a:t>
            </a:r>
          </a:p>
        </p:txBody>
      </p:sp>
      <p:sp>
        <p:nvSpPr>
          <p:cNvPr id="11" name="TextBox 10"/>
          <p:cNvSpPr txBox="1"/>
          <p:nvPr/>
        </p:nvSpPr>
        <p:spPr>
          <a:xfrm>
            <a:off x="9692640" y="3474720"/>
            <a:ext cx="1828800" cy="502920"/>
          </a:xfrm>
          <a:prstGeom prst="rect">
            <a:avLst/>
          </a:prstGeom>
          <a:noFill/>
        </p:spPr>
        <p:txBody>
          <a:bodyPr wrap="square" anchor="ctr" lIns="45720" rIns="45720">
            <a:spAutoFit/>
          </a:bodyPr>
          <a:lstStyle/>
          <a:p>
            <a:pPr algn="r"/>
            <a:r>
              <a:rPr sz="1600" b="0" i="1">
                <a:solidFill>
                  <a:srgbClr val="555555"/>
                </a:solidFill>
                <a:latin typeface="Calibri"/>
              </a:rPr>
              <a:t>3 min</a:t>
            </a:r>
          </a:p>
        </p:txBody>
      </p:sp>
      <p:sp>
        <p:nvSpPr>
          <p:cNvPr id="12" name="TextBox 11"/>
          <p:cNvSpPr txBox="1"/>
          <p:nvPr/>
        </p:nvSpPr>
        <p:spPr>
          <a:xfrm>
            <a:off x="914400" y="4069080"/>
            <a:ext cx="8686800" cy="502920"/>
          </a:xfrm>
          <a:prstGeom prst="rect">
            <a:avLst/>
          </a:prstGeom>
          <a:noFill/>
        </p:spPr>
        <p:txBody>
          <a:bodyPr wrap="square" anchor="ctr" lIns="45720" rIns="45720">
            <a:spAutoFit/>
          </a:bodyPr>
          <a:lstStyle/>
          <a:p>
            <a:pPr algn="l"/>
            <a:r>
              <a:rPr sz="2000" b="0" i="0">
                <a:solidFill>
                  <a:srgbClr val="222222"/>
                </a:solidFill>
                <a:latin typeface="Calibri"/>
              </a:rPr>
              <a:t>5.  Component three: Job Satisfaction (Herzberg)</a:t>
            </a:r>
          </a:p>
        </p:txBody>
      </p:sp>
      <p:sp>
        <p:nvSpPr>
          <p:cNvPr id="13" name="TextBox 12"/>
          <p:cNvSpPr txBox="1"/>
          <p:nvPr/>
        </p:nvSpPr>
        <p:spPr>
          <a:xfrm>
            <a:off x="9692640" y="4069080"/>
            <a:ext cx="1828800" cy="502920"/>
          </a:xfrm>
          <a:prstGeom prst="rect">
            <a:avLst/>
          </a:prstGeom>
          <a:noFill/>
        </p:spPr>
        <p:txBody>
          <a:bodyPr wrap="square" anchor="ctr" lIns="45720" rIns="45720">
            <a:spAutoFit/>
          </a:bodyPr>
          <a:lstStyle/>
          <a:p>
            <a:pPr algn="r"/>
            <a:r>
              <a:rPr sz="1600" b="0" i="1">
                <a:solidFill>
                  <a:srgbClr val="555555"/>
                </a:solidFill>
                <a:latin typeface="Calibri"/>
              </a:rPr>
              <a:t>3 min</a:t>
            </a:r>
          </a:p>
        </p:txBody>
      </p:sp>
      <p:sp>
        <p:nvSpPr>
          <p:cNvPr id="14" name="TextBox 13"/>
          <p:cNvSpPr txBox="1"/>
          <p:nvPr/>
        </p:nvSpPr>
        <p:spPr>
          <a:xfrm>
            <a:off x="914400" y="4663440"/>
            <a:ext cx="8686800" cy="502920"/>
          </a:xfrm>
          <a:prstGeom prst="rect">
            <a:avLst/>
          </a:prstGeom>
          <a:noFill/>
        </p:spPr>
        <p:txBody>
          <a:bodyPr wrap="square" anchor="ctr" lIns="45720" rIns="45720">
            <a:spAutoFit/>
          </a:bodyPr>
          <a:lstStyle/>
          <a:p>
            <a:pPr algn="l"/>
            <a:r>
              <a:rPr sz="2000" b="0" i="0">
                <a:solidFill>
                  <a:srgbClr val="222222"/>
                </a:solidFill>
                <a:latin typeface="Calibri"/>
              </a:rPr>
              <a:t>6.  How the three components connect</a:t>
            </a:r>
          </a:p>
        </p:txBody>
      </p:sp>
      <p:sp>
        <p:nvSpPr>
          <p:cNvPr id="15" name="TextBox 14"/>
          <p:cNvSpPr txBox="1"/>
          <p:nvPr/>
        </p:nvSpPr>
        <p:spPr>
          <a:xfrm>
            <a:off x="9692640" y="4663440"/>
            <a:ext cx="1828800" cy="502920"/>
          </a:xfrm>
          <a:prstGeom prst="rect">
            <a:avLst/>
          </a:prstGeom>
          <a:noFill/>
        </p:spPr>
        <p:txBody>
          <a:bodyPr wrap="square" anchor="ctr" lIns="45720" rIns="45720">
            <a:spAutoFit/>
          </a:bodyPr>
          <a:lstStyle/>
          <a:p>
            <a:pPr algn="r"/>
            <a:r>
              <a:rPr sz="1600" b="0" i="1">
                <a:solidFill>
                  <a:srgbClr val="555555"/>
                </a:solidFill>
                <a:latin typeface="Calibri"/>
              </a:rPr>
              <a:t>1.5 min</a:t>
            </a:r>
          </a:p>
        </p:txBody>
      </p:sp>
      <p:sp>
        <p:nvSpPr>
          <p:cNvPr id="16" name="TextBox 15"/>
          <p:cNvSpPr txBox="1"/>
          <p:nvPr/>
        </p:nvSpPr>
        <p:spPr>
          <a:xfrm>
            <a:off x="914400" y="5257800"/>
            <a:ext cx="8686800" cy="502920"/>
          </a:xfrm>
          <a:prstGeom prst="rect">
            <a:avLst/>
          </a:prstGeom>
          <a:noFill/>
        </p:spPr>
        <p:txBody>
          <a:bodyPr wrap="square" anchor="ctr" lIns="45720" rIns="45720">
            <a:spAutoFit/>
          </a:bodyPr>
          <a:lstStyle/>
          <a:p>
            <a:pPr algn="l"/>
            <a:r>
              <a:rPr sz="2000" b="0" i="0">
                <a:solidFill>
                  <a:srgbClr val="222222"/>
                </a:solidFill>
                <a:latin typeface="Calibri"/>
              </a:rPr>
              <a:t>7.  Takeaways and questions</a:t>
            </a:r>
          </a:p>
        </p:txBody>
      </p:sp>
      <p:sp>
        <p:nvSpPr>
          <p:cNvPr id="17" name="TextBox 16"/>
          <p:cNvSpPr txBox="1"/>
          <p:nvPr/>
        </p:nvSpPr>
        <p:spPr>
          <a:xfrm>
            <a:off x="9692640" y="5257800"/>
            <a:ext cx="1828800" cy="502920"/>
          </a:xfrm>
          <a:prstGeom prst="rect">
            <a:avLst/>
          </a:prstGeom>
          <a:noFill/>
        </p:spPr>
        <p:txBody>
          <a:bodyPr wrap="square" anchor="ctr" lIns="45720" rIns="45720">
            <a:spAutoFit/>
          </a:bodyPr>
          <a:lstStyle/>
          <a:p>
            <a:pPr algn="r"/>
            <a:r>
              <a:rPr sz="1600" b="0" i="1">
                <a:solidFill>
                  <a:srgbClr val="555555"/>
                </a:solidFill>
                <a:latin typeface="Calibri"/>
              </a:rPr>
              <a:t>1.5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17352" cy="822960"/>
          </a:xfrm>
          <a:prstGeom prst="rect">
            <a:avLst/>
          </a:prstGeom>
          <a:noFill/>
        </p:spPr>
        <p:txBody>
          <a:bodyPr wrap="square" anchor="t" lIns="45720" rIns="45720">
            <a:spAutoFit/>
          </a:bodyPr>
          <a:lstStyle/>
          <a:p>
            <a:pPr algn="l"/>
            <a:r>
              <a:rPr sz="4000" b="1" i="0">
                <a:solidFill>
                  <a:srgbClr val="E51636"/>
                </a:solidFill>
                <a:latin typeface="Calibri"/>
              </a:rPr>
              <a:t>Chick-fil-A</a:t>
            </a:r>
          </a:p>
        </p:txBody>
      </p:sp>
      <p:sp>
        <p:nvSpPr>
          <p:cNvPr id="4" name="TextBox 3"/>
          <p:cNvSpPr txBox="1"/>
          <p:nvPr/>
        </p:nvSpPr>
        <p:spPr>
          <a:xfrm>
            <a:off x="685800" y="1325880"/>
            <a:ext cx="10817352" cy="457200"/>
          </a:xfrm>
          <a:prstGeom prst="rect">
            <a:avLst/>
          </a:prstGeom>
          <a:noFill/>
        </p:spPr>
        <p:txBody>
          <a:bodyPr wrap="square" anchor="t" lIns="45720" rIns="45720">
            <a:spAutoFit/>
          </a:bodyPr>
          <a:lstStyle/>
          <a:p>
            <a:pPr algn="l"/>
            <a:r>
              <a:rPr sz="1800" b="0" i="1">
                <a:solidFill>
                  <a:srgbClr val="555555"/>
                </a:solidFill>
                <a:latin typeface="Calibri"/>
              </a:rPr>
              <a:t>Privately held, single-Operator franchise model, Atlanta-rooted</a:t>
            </a:r>
          </a:p>
        </p:txBody>
      </p:sp>
      <p:sp>
        <p:nvSpPr>
          <p:cNvPr id="5" name="TextBox 4"/>
          <p:cNvSpPr txBox="1"/>
          <p:nvPr/>
        </p:nvSpPr>
        <p:spPr>
          <a:xfrm>
            <a:off x="685800" y="2011680"/>
            <a:ext cx="10817352" cy="4114800"/>
          </a:xfrm>
          <a:prstGeom prst="rect">
            <a:avLst/>
          </a:prstGeom>
          <a:noFill/>
        </p:spPr>
        <p:txBody>
          <a:bodyPr wrap="square" lIns="45720" rIns="45720">
            <a:spAutoFit/>
          </a:bodyPr>
          <a:lstStyle/>
          <a:p>
            <a:pPr>
              <a:lnSpc>
                <a:spcPct val="130000"/>
              </a:lnSpc>
              <a:spcAft>
                <a:spcPts val="400"/>
              </a:spcAft>
            </a:pPr>
            <a:r>
              <a:rPr sz="1800" b="0" i="0">
                <a:solidFill>
                  <a:srgbClr val="222222"/>
                </a:solidFill>
                <a:latin typeface="Calibri"/>
              </a:rPr>
              <a:t>•  Founded in 1967 by S. Truett Cathy at Atlanta's Greenbriar Mall (predecessor Dwarf Grill opened in Hapeville, Georgia, in 1946).</a:t>
            </a:r>
          </a:p>
          <a:p>
            <a:pPr>
              <a:lnSpc>
                <a:spcPct val="130000"/>
              </a:lnSpc>
              <a:spcAft>
                <a:spcPts val="400"/>
              </a:spcAft>
            </a:pPr>
            <a:r>
              <a:rPr sz="1800" b="0" i="0">
                <a:solidFill>
                  <a:srgbClr val="222222"/>
                </a:solidFill>
                <a:latin typeface="Calibri"/>
              </a:rPr>
              <a:t>•  Headquartered in College Park, Georgia. More than 3,000 US restaurants. Closed every Sunday.</a:t>
            </a:r>
          </a:p>
          <a:p>
            <a:pPr>
              <a:lnSpc>
                <a:spcPct val="130000"/>
              </a:lnSpc>
              <a:spcAft>
                <a:spcPts val="400"/>
              </a:spcAft>
            </a:pPr>
            <a:r>
              <a:rPr sz="1800" b="0" i="0">
                <a:solidFill>
                  <a:srgbClr val="222222"/>
                </a:solidFill>
                <a:latin typeface="Calibri"/>
              </a:rPr>
              <a:t>•  Operator model: roughly 40,000 applicants per year, under 1 percent accepted, $10,000 fee, one restaurant per Operator, on-site daily.</a:t>
            </a:r>
          </a:p>
          <a:p>
            <a:pPr>
              <a:lnSpc>
                <a:spcPct val="130000"/>
              </a:lnSpc>
              <a:spcAft>
                <a:spcPts val="400"/>
              </a:spcAft>
            </a:pPr>
            <a:r>
              <a:rPr sz="1800" b="0" i="0">
                <a:solidFill>
                  <a:srgbClr val="222222"/>
                </a:solidFill>
                <a:latin typeface="Calibri"/>
              </a:rPr>
              <a:t>•  Corporate purpose centered on stewardship and hospitality. Remarkable Futures scholarship program funds team-member education.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15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17352" cy="822960"/>
          </a:xfrm>
          <a:prstGeom prst="rect">
            <a:avLst/>
          </a:prstGeom>
          <a:noFill/>
        </p:spPr>
        <p:txBody>
          <a:bodyPr wrap="square" anchor="t" lIns="45720" rIns="45720">
            <a:spAutoFit/>
          </a:bodyPr>
          <a:lstStyle/>
          <a:p>
            <a:pPr algn="l"/>
            <a:r>
              <a:rPr sz="4000" b="1" i="0">
                <a:solidFill>
                  <a:srgbClr val="F15A22"/>
                </a:solidFill>
                <a:latin typeface="Calibri"/>
              </a:rPr>
              <a:t>Popeyes Louisiana Kitchen</a:t>
            </a:r>
          </a:p>
        </p:txBody>
      </p:sp>
      <p:sp>
        <p:nvSpPr>
          <p:cNvPr id="4" name="TextBox 3"/>
          <p:cNvSpPr txBox="1"/>
          <p:nvPr/>
        </p:nvSpPr>
        <p:spPr>
          <a:xfrm>
            <a:off x="685800" y="1325880"/>
            <a:ext cx="10817352" cy="457200"/>
          </a:xfrm>
          <a:prstGeom prst="rect">
            <a:avLst/>
          </a:prstGeom>
          <a:noFill/>
        </p:spPr>
        <p:txBody>
          <a:bodyPr wrap="square" anchor="t" lIns="45720" rIns="45720">
            <a:spAutoFit/>
          </a:bodyPr>
          <a:lstStyle/>
          <a:p>
            <a:pPr algn="l"/>
            <a:r>
              <a:rPr sz="1800" b="0" i="1">
                <a:solidFill>
                  <a:srgbClr val="555555"/>
                </a:solidFill>
                <a:latin typeface="Calibri"/>
              </a:rPr>
              <a:t>Public, multi-unit franchised, brand-led from corporate</a:t>
            </a:r>
          </a:p>
        </p:txBody>
      </p:sp>
      <p:sp>
        <p:nvSpPr>
          <p:cNvPr id="5" name="TextBox 4"/>
          <p:cNvSpPr txBox="1"/>
          <p:nvPr/>
        </p:nvSpPr>
        <p:spPr>
          <a:xfrm>
            <a:off x="685800" y="2011680"/>
            <a:ext cx="10817352" cy="4114800"/>
          </a:xfrm>
          <a:prstGeom prst="rect">
            <a:avLst/>
          </a:prstGeom>
          <a:noFill/>
        </p:spPr>
        <p:txBody>
          <a:bodyPr wrap="square" lIns="45720" rIns="45720">
            <a:spAutoFit/>
          </a:bodyPr>
          <a:lstStyle/>
          <a:p>
            <a:pPr>
              <a:lnSpc>
                <a:spcPct val="130000"/>
              </a:lnSpc>
              <a:spcAft>
                <a:spcPts val="400"/>
              </a:spcAft>
            </a:pPr>
            <a:r>
              <a:rPr sz="1800" b="0" i="0">
                <a:solidFill>
                  <a:srgbClr val="222222"/>
                </a:solidFill>
                <a:latin typeface="Calibri"/>
              </a:rPr>
              <a:t>•  Founded in 1972 by Al Copeland in the New Orleans suburb of Arabi. Now more than 4,200 restaurants worldwide.</a:t>
            </a:r>
          </a:p>
          <a:p>
            <a:pPr>
              <a:lnSpc>
                <a:spcPct val="130000"/>
              </a:lnSpc>
              <a:spcAft>
                <a:spcPts val="400"/>
              </a:spcAft>
            </a:pPr>
            <a:r>
              <a:rPr sz="1800" b="0" i="0">
                <a:solidFill>
                  <a:srgbClr val="222222"/>
                </a:solidFill>
                <a:latin typeface="Calibri"/>
              </a:rPr>
              <a:t>•  Owned by Restaurant Brands International, parent company of Burger King and Tim Hortons.</a:t>
            </a:r>
          </a:p>
          <a:p>
            <a:pPr>
              <a:lnSpc>
                <a:spcPct val="130000"/>
              </a:lnSpc>
              <a:spcAft>
                <a:spcPts val="400"/>
              </a:spcAft>
            </a:pPr>
            <a:r>
              <a:rPr sz="1800" b="0" i="0">
                <a:solidFill>
                  <a:srgbClr val="222222"/>
                </a:solidFill>
                <a:latin typeface="Calibri"/>
              </a:rPr>
              <a:t>•  Multi-unit franchise model: one franchisee may own dozens of stores and delegate daily management to hired general managers.</a:t>
            </a:r>
          </a:p>
          <a:p>
            <a:pPr>
              <a:lnSpc>
                <a:spcPct val="130000"/>
              </a:lnSpc>
              <a:spcAft>
                <a:spcPts val="400"/>
              </a:spcAft>
            </a:pPr>
            <a:r>
              <a:rPr sz="1800" b="0" i="0">
                <a:solidFill>
                  <a:srgbClr val="222222"/>
                </a:solidFill>
                <a:latin typeface="Calibri"/>
              </a:rPr>
              <a:t>•  Cheryl Bachelder served as CEO from 2007 to 2017, led the rebrand to Popeyes Louisiana Kitchen, and introduced a servant-leadership framework. Implementation at the franchise level has stayed inconsistent.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4000" b="1" i="0">
                <a:solidFill>
                  <a:srgbClr val="2C3E50"/>
                </a:solidFill>
                <a:latin typeface="Calibri"/>
              </a:rPr>
              <a:t>How We Define Success</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63040"/>
            <a:ext cx="10817352" cy="548640"/>
          </a:xfrm>
          <a:prstGeom prst="rect">
            <a:avLst/>
          </a:prstGeom>
          <a:noFill/>
        </p:spPr>
        <p:txBody>
          <a:bodyPr wrap="square" anchor="t" lIns="45720" rIns="45720">
            <a:spAutoFit/>
          </a:bodyPr>
          <a:lstStyle/>
          <a:p>
            <a:pPr algn="l"/>
            <a:r>
              <a:rPr sz="2000" b="0" i="1">
                <a:solidFill>
                  <a:srgbClr val="555555"/>
                </a:solidFill>
                <a:latin typeface="Calibri"/>
              </a:rPr>
              <a:t>Per the assignment, success is employee outcomes, not revenue. Three measures:</a:t>
            </a:r>
          </a:p>
        </p:txBody>
      </p:sp>
      <p:sp>
        <p:nvSpPr>
          <p:cNvPr id="5" name="Rectangle 4"/>
          <p:cNvSpPr/>
          <p:nvPr/>
        </p:nvSpPr>
        <p:spPr>
          <a:xfrm>
            <a:off x="411480" y="2286000"/>
            <a:ext cx="3657600" cy="7315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2423160"/>
            <a:ext cx="3657600" cy="457200"/>
          </a:xfrm>
          <a:prstGeom prst="rect">
            <a:avLst/>
          </a:prstGeom>
          <a:noFill/>
        </p:spPr>
        <p:txBody>
          <a:bodyPr wrap="square" anchor="t" lIns="45720" rIns="45720">
            <a:spAutoFit/>
          </a:bodyPr>
          <a:lstStyle/>
          <a:p>
            <a:pPr algn="ctr"/>
            <a:r>
              <a:rPr sz="1800" b="1" i="0">
                <a:solidFill>
                  <a:srgbClr val="2C3E50"/>
                </a:solidFill>
                <a:latin typeface="Calibri"/>
              </a:rPr>
              <a:t>Customer Satisfaction</a:t>
            </a:r>
          </a:p>
        </p:txBody>
      </p:sp>
      <p:sp>
        <p:nvSpPr>
          <p:cNvPr id="7" name="TextBox 6"/>
          <p:cNvSpPr txBox="1"/>
          <p:nvPr/>
        </p:nvSpPr>
        <p:spPr>
          <a:xfrm>
            <a:off x="411480" y="2926080"/>
            <a:ext cx="3657600" cy="365760"/>
          </a:xfrm>
          <a:prstGeom prst="rect">
            <a:avLst/>
          </a:prstGeom>
          <a:noFill/>
        </p:spPr>
        <p:txBody>
          <a:bodyPr wrap="square" anchor="t" lIns="45720" rIns="45720">
            <a:spAutoFit/>
          </a:bodyPr>
          <a:lstStyle/>
          <a:p>
            <a:pPr algn="ctr"/>
            <a:r>
              <a:rPr sz="1200" b="0" i="1">
                <a:solidFill>
                  <a:srgbClr val="555555"/>
                </a:solidFill>
                <a:latin typeface="Calibri"/>
              </a:rPr>
              <a:t>ACSI 2023, limited-service</a:t>
            </a:r>
          </a:p>
        </p:txBody>
      </p:sp>
      <p:sp>
        <p:nvSpPr>
          <p:cNvPr id="8" name="TextBox 7"/>
          <p:cNvSpPr txBox="1"/>
          <p:nvPr/>
        </p:nvSpPr>
        <p:spPr>
          <a:xfrm>
            <a:off x="502920" y="3474720"/>
            <a:ext cx="3474720" cy="640080"/>
          </a:xfrm>
          <a:prstGeom prst="rect">
            <a:avLst/>
          </a:prstGeom>
          <a:noFill/>
        </p:spPr>
        <p:txBody>
          <a:bodyPr wrap="square" anchor="ctr" lIns="45720" rIns="45720">
            <a:spAutoFit/>
          </a:bodyPr>
          <a:lstStyle/>
          <a:p>
            <a:pPr algn="ctr"/>
            <a:r>
              <a:rPr sz="1500" b="0" i="0">
                <a:solidFill>
                  <a:srgbClr val="E51636"/>
                </a:solidFill>
                <a:latin typeface="Calibri"/>
              </a:rPr>
              <a:t>Chick-fil-A: 85</a:t>
            </a:r>
          </a:p>
        </p:txBody>
      </p:sp>
      <p:sp>
        <p:nvSpPr>
          <p:cNvPr id="9" name="TextBox 8"/>
          <p:cNvSpPr txBox="1"/>
          <p:nvPr/>
        </p:nvSpPr>
        <p:spPr>
          <a:xfrm>
            <a:off x="502920" y="4251960"/>
            <a:ext cx="3474720" cy="640080"/>
          </a:xfrm>
          <a:prstGeom prst="rect">
            <a:avLst/>
          </a:prstGeom>
          <a:noFill/>
        </p:spPr>
        <p:txBody>
          <a:bodyPr wrap="square" anchor="ctr" lIns="45720" rIns="45720">
            <a:spAutoFit/>
          </a:bodyPr>
          <a:lstStyle/>
          <a:p>
            <a:pPr algn="ctr"/>
            <a:r>
              <a:rPr sz="1500" b="0" i="0">
                <a:solidFill>
                  <a:srgbClr val="555555"/>
                </a:solidFill>
                <a:latin typeface="Calibri"/>
              </a:rPr>
              <a:t>Industry avg: 78</a:t>
            </a:r>
          </a:p>
        </p:txBody>
      </p:sp>
      <p:sp>
        <p:nvSpPr>
          <p:cNvPr id="10" name="TextBox 9"/>
          <p:cNvSpPr txBox="1"/>
          <p:nvPr/>
        </p:nvSpPr>
        <p:spPr>
          <a:xfrm>
            <a:off x="502920" y="5029200"/>
            <a:ext cx="3474720" cy="640080"/>
          </a:xfrm>
          <a:prstGeom prst="rect">
            <a:avLst/>
          </a:prstGeom>
          <a:noFill/>
        </p:spPr>
        <p:txBody>
          <a:bodyPr wrap="square" anchor="ctr" lIns="45720" rIns="45720">
            <a:spAutoFit/>
          </a:bodyPr>
          <a:lstStyle/>
          <a:p>
            <a:pPr algn="ctr"/>
            <a:r>
              <a:rPr sz="1500" b="0" i="0">
                <a:solidFill>
                  <a:srgbClr val="F15A22"/>
                </a:solidFill>
                <a:latin typeface="Calibri"/>
              </a:rPr>
              <a:t>Popeyes: 74</a:t>
            </a:r>
          </a:p>
        </p:txBody>
      </p:sp>
      <p:sp>
        <p:nvSpPr>
          <p:cNvPr id="11" name="Rectangle 10"/>
          <p:cNvSpPr/>
          <p:nvPr/>
        </p:nvSpPr>
        <p:spPr>
          <a:xfrm>
            <a:off x="4206240" y="2286000"/>
            <a:ext cx="3657600" cy="7315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2423160"/>
            <a:ext cx="3657600" cy="457200"/>
          </a:xfrm>
          <a:prstGeom prst="rect">
            <a:avLst/>
          </a:prstGeom>
          <a:noFill/>
        </p:spPr>
        <p:txBody>
          <a:bodyPr wrap="square" anchor="t" lIns="45720" rIns="45720">
            <a:spAutoFit/>
          </a:bodyPr>
          <a:lstStyle/>
          <a:p>
            <a:pPr algn="ctr"/>
            <a:r>
              <a:rPr sz="1800" b="1" i="0">
                <a:solidFill>
                  <a:srgbClr val="2C3E50"/>
                </a:solidFill>
                <a:latin typeface="Calibri"/>
              </a:rPr>
              <a:t>Hourly Turnover</a:t>
            </a:r>
          </a:p>
        </p:txBody>
      </p:sp>
      <p:sp>
        <p:nvSpPr>
          <p:cNvPr id="13" name="TextBox 12"/>
          <p:cNvSpPr txBox="1"/>
          <p:nvPr/>
        </p:nvSpPr>
        <p:spPr>
          <a:xfrm>
            <a:off x="4206240" y="2926080"/>
            <a:ext cx="3657600" cy="365760"/>
          </a:xfrm>
          <a:prstGeom prst="rect">
            <a:avLst/>
          </a:prstGeom>
          <a:noFill/>
        </p:spPr>
        <p:txBody>
          <a:bodyPr wrap="square" anchor="t" lIns="45720" rIns="45720">
            <a:spAutoFit/>
          </a:bodyPr>
          <a:lstStyle/>
          <a:p>
            <a:pPr algn="ctr"/>
            <a:r>
              <a:rPr sz="1200" b="0" i="1">
                <a:solidFill>
                  <a:srgbClr val="555555"/>
                </a:solidFill>
                <a:latin typeface="Calibri"/>
              </a:rPr>
              <a:t>annualized</a:t>
            </a:r>
          </a:p>
        </p:txBody>
      </p:sp>
      <p:sp>
        <p:nvSpPr>
          <p:cNvPr id="14" name="TextBox 13"/>
          <p:cNvSpPr txBox="1"/>
          <p:nvPr/>
        </p:nvSpPr>
        <p:spPr>
          <a:xfrm>
            <a:off x="4297680" y="3474720"/>
            <a:ext cx="3474720" cy="640080"/>
          </a:xfrm>
          <a:prstGeom prst="rect">
            <a:avLst/>
          </a:prstGeom>
          <a:noFill/>
        </p:spPr>
        <p:txBody>
          <a:bodyPr wrap="square" anchor="ctr" lIns="45720" rIns="45720">
            <a:spAutoFit/>
          </a:bodyPr>
          <a:lstStyle/>
          <a:p>
            <a:pPr algn="ctr"/>
            <a:r>
              <a:rPr sz="1500" b="0" i="0">
                <a:solidFill>
                  <a:srgbClr val="E51636"/>
                </a:solidFill>
                <a:latin typeface="Calibri"/>
              </a:rPr>
              <a:t>Chick-fil-A: ~60 percent</a:t>
            </a:r>
          </a:p>
        </p:txBody>
      </p:sp>
      <p:sp>
        <p:nvSpPr>
          <p:cNvPr id="15" name="TextBox 14"/>
          <p:cNvSpPr txBox="1"/>
          <p:nvPr/>
        </p:nvSpPr>
        <p:spPr>
          <a:xfrm>
            <a:off x="4297680" y="4251960"/>
            <a:ext cx="3474720" cy="640080"/>
          </a:xfrm>
          <a:prstGeom prst="rect">
            <a:avLst/>
          </a:prstGeom>
          <a:noFill/>
        </p:spPr>
        <p:txBody>
          <a:bodyPr wrap="square" anchor="ctr" lIns="45720" rIns="45720">
            <a:spAutoFit/>
          </a:bodyPr>
          <a:lstStyle/>
          <a:p>
            <a:pPr algn="ctr"/>
            <a:r>
              <a:rPr sz="1500" b="0" i="0">
                <a:solidFill>
                  <a:srgbClr val="555555"/>
                </a:solidFill>
                <a:latin typeface="Calibri"/>
              </a:rPr>
              <a:t>QSR avg: 130-150 percent</a:t>
            </a:r>
          </a:p>
        </p:txBody>
      </p:sp>
      <p:sp>
        <p:nvSpPr>
          <p:cNvPr id="16" name="TextBox 15"/>
          <p:cNvSpPr txBox="1"/>
          <p:nvPr/>
        </p:nvSpPr>
        <p:spPr>
          <a:xfrm>
            <a:off x="4297680" y="5029200"/>
            <a:ext cx="3474720" cy="640080"/>
          </a:xfrm>
          <a:prstGeom prst="rect">
            <a:avLst/>
          </a:prstGeom>
          <a:noFill/>
        </p:spPr>
        <p:txBody>
          <a:bodyPr wrap="square" anchor="ctr" lIns="45720" rIns="45720">
            <a:spAutoFit/>
          </a:bodyPr>
          <a:lstStyle/>
          <a:p>
            <a:pPr algn="ctr"/>
            <a:r>
              <a:rPr sz="1500" b="0" i="0">
                <a:solidFill>
                  <a:srgbClr val="F15A22"/>
                </a:solidFill>
                <a:latin typeface="Calibri"/>
              </a:rPr>
              <a:t>Popeyes: at or above avg</a:t>
            </a:r>
          </a:p>
        </p:txBody>
      </p:sp>
      <p:sp>
        <p:nvSpPr>
          <p:cNvPr id="17" name="Rectangle 16"/>
          <p:cNvSpPr/>
          <p:nvPr/>
        </p:nvSpPr>
        <p:spPr>
          <a:xfrm>
            <a:off x="8001000" y="2286000"/>
            <a:ext cx="3657600" cy="7315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2423160"/>
            <a:ext cx="3657600" cy="457200"/>
          </a:xfrm>
          <a:prstGeom prst="rect">
            <a:avLst/>
          </a:prstGeom>
          <a:noFill/>
        </p:spPr>
        <p:txBody>
          <a:bodyPr wrap="square" anchor="t" lIns="45720" rIns="45720">
            <a:spAutoFit/>
          </a:bodyPr>
          <a:lstStyle/>
          <a:p>
            <a:pPr algn="ctr"/>
            <a:r>
              <a:rPr sz="1800" b="1" i="0">
                <a:solidFill>
                  <a:srgbClr val="2C3E50"/>
                </a:solidFill>
                <a:latin typeface="Calibri"/>
              </a:rPr>
              <a:t>Observed Engagement</a:t>
            </a:r>
          </a:p>
        </p:txBody>
      </p:sp>
      <p:sp>
        <p:nvSpPr>
          <p:cNvPr id="19" name="TextBox 18"/>
          <p:cNvSpPr txBox="1"/>
          <p:nvPr/>
        </p:nvSpPr>
        <p:spPr>
          <a:xfrm>
            <a:off x="8001000" y="2926080"/>
            <a:ext cx="3657600" cy="365760"/>
          </a:xfrm>
          <a:prstGeom prst="rect">
            <a:avLst/>
          </a:prstGeom>
          <a:noFill/>
        </p:spPr>
        <p:txBody>
          <a:bodyPr wrap="square" anchor="t" lIns="45720" rIns="45720">
            <a:spAutoFit/>
          </a:bodyPr>
          <a:lstStyle/>
          <a:p>
            <a:pPr algn="ctr"/>
            <a:r>
              <a:rPr sz="1200" b="0" i="1">
                <a:solidFill>
                  <a:srgbClr val="555555"/>
                </a:solidFill>
                <a:latin typeface="Calibri"/>
              </a:rPr>
              <a:t>our Atlanta visits</a:t>
            </a:r>
          </a:p>
        </p:txBody>
      </p:sp>
      <p:sp>
        <p:nvSpPr>
          <p:cNvPr id="20" name="TextBox 19"/>
          <p:cNvSpPr txBox="1"/>
          <p:nvPr/>
        </p:nvSpPr>
        <p:spPr>
          <a:xfrm>
            <a:off x="8092440" y="3474720"/>
            <a:ext cx="3474720" cy="640080"/>
          </a:xfrm>
          <a:prstGeom prst="rect">
            <a:avLst/>
          </a:prstGeom>
          <a:noFill/>
        </p:spPr>
        <p:txBody>
          <a:bodyPr wrap="square" anchor="ctr" lIns="45720" rIns="45720">
            <a:spAutoFit/>
          </a:bodyPr>
          <a:lstStyle/>
          <a:p>
            <a:pPr algn="ctr"/>
            <a:r>
              <a:rPr sz="1500" b="0" i="0">
                <a:solidFill>
                  <a:srgbClr val="E51636"/>
                </a:solidFill>
                <a:latin typeface="Calibri"/>
              </a:rPr>
              <a:t>Eye contact, coordinated rush</a:t>
            </a:r>
          </a:p>
        </p:txBody>
      </p:sp>
      <p:sp>
        <p:nvSpPr>
          <p:cNvPr id="21" name="TextBox 20"/>
          <p:cNvSpPr txBox="1"/>
          <p:nvPr/>
        </p:nvSpPr>
        <p:spPr>
          <a:xfrm>
            <a:off x="8092440" y="4251960"/>
            <a:ext cx="3474720" cy="640080"/>
          </a:xfrm>
          <a:prstGeom prst="rect">
            <a:avLst/>
          </a:prstGeom>
          <a:noFill/>
        </p:spPr>
        <p:txBody>
          <a:bodyPr wrap="square" anchor="ctr" lIns="45720" rIns="45720">
            <a:spAutoFit/>
          </a:bodyPr>
          <a:lstStyle/>
          <a:p>
            <a:pPr algn="ctr"/>
            <a:r>
              <a:rPr sz="1500" b="0" i="0">
                <a:solidFill>
                  <a:srgbClr val="555555"/>
                </a:solidFill>
                <a:latin typeface="Calibri"/>
              </a:rPr>
              <a:t>(Camp Creek + Buckhead)</a:t>
            </a:r>
          </a:p>
        </p:txBody>
      </p:sp>
      <p:sp>
        <p:nvSpPr>
          <p:cNvPr id="22" name="TextBox 21"/>
          <p:cNvSpPr txBox="1"/>
          <p:nvPr/>
        </p:nvSpPr>
        <p:spPr>
          <a:xfrm>
            <a:off x="8092440" y="5029200"/>
            <a:ext cx="3474720" cy="640080"/>
          </a:xfrm>
          <a:prstGeom prst="rect">
            <a:avLst/>
          </a:prstGeom>
          <a:noFill/>
        </p:spPr>
        <p:txBody>
          <a:bodyPr wrap="square" anchor="ctr" lIns="45720" rIns="45720">
            <a:spAutoFit/>
          </a:bodyPr>
          <a:lstStyle/>
          <a:p>
            <a:pPr algn="ctr"/>
            <a:r>
              <a:rPr sz="1500" b="0" i="0">
                <a:solidFill>
                  <a:srgbClr val="F15A22"/>
                </a:solidFill>
                <a:latin typeface="Calibri"/>
              </a:rPr>
              <a:t>Long waits, visible stress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600" b="1" i="0">
                <a:solidFill>
                  <a:srgbClr val="2C3E50"/>
                </a:solidFill>
                <a:latin typeface="Calibri"/>
              </a:rPr>
              <a:t>Three Components of Individual Effectiveness</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447" y="2377440"/>
            <a:ext cx="3291840" cy="29260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447" y="2926080"/>
            <a:ext cx="3291840" cy="731520"/>
          </a:xfrm>
          <a:prstGeom prst="rect">
            <a:avLst/>
          </a:prstGeom>
          <a:noFill/>
        </p:spPr>
        <p:txBody>
          <a:bodyPr wrap="square" anchor="ctr" lIns="45720" rIns="45720">
            <a:spAutoFit/>
          </a:bodyPr>
          <a:lstStyle/>
          <a:p>
            <a:pPr algn="ctr"/>
            <a:r>
              <a:rPr sz="2200" b="1" i="0">
                <a:solidFill>
                  <a:srgbClr val="FFFFFF"/>
                </a:solidFill>
                <a:latin typeface="Calibri"/>
              </a:rPr>
              <a:t>Organizational Culture</a:t>
            </a:r>
          </a:p>
        </p:txBody>
      </p:sp>
      <p:sp>
        <p:nvSpPr>
          <p:cNvPr id="6" name="TextBox 5"/>
          <p:cNvSpPr txBox="1"/>
          <p:nvPr/>
        </p:nvSpPr>
        <p:spPr>
          <a:xfrm>
            <a:off x="609447" y="3840480"/>
            <a:ext cx="3291840" cy="1280160"/>
          </a:xfrm>
          <a:prstGeom prst="rect">
            <a:avLst/>
          </a:prstGeom>
          <a:noFill/>
        </p:spPr>
        <p:txBody>
          <a:bodyPr wrap="square" anchor="ctr" lIns="45720" rIns="45720">
            <a:spAutoFit/>
          </a:bodyPr>
          <a:lstStyle/>
          <a:p>
            <a:pPr algn="ctr"/>
            <a:r>
              <a:rPr sz="1500" b="0" i="1">
                <a:solidFill>
                  <a:srgbClr val="ECF0F1"/>
                </a:solidFill>
                <a:latin typeface="Calibri"/>
              </a:rPr>
              <a:t>Schein (1985) Three Levels of Culture</a:t>
            </a:r>
          </a:p>
        </p:txBody>
      </p:sp>
      <p:sp>
        <p:nvSpPr>
          <p:cNvPr id="7" name="Rectangle 6"/>
          <p:cNvSpPr/>
          <p:nvPr/>
        </p:nvSpPr>
        <p:spPr>
          <a:xfrm>
            <a:off x="4449927" y="2377440"/>
            <a:ext cx="3291840" cy="29260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9927" y="2926080"/>
            <a:ext cx="3291840" cy="731520"/>
          </a:xfrm>
          <a:prstGeom prst="rect">
            <a:avLst/>
          </a:prstGeom>
          <a:noFill/>
        </p:spPr>
        <p:txBody>
          <a:bodyPr wrap="square" anchor="ctr" lIns="45720" rIns="45720">
            <a:spAutoFit/>
          </a:bodyPr>
          <a:lstStyle/>
          <a:p>
            <a:pPr algn="ctr"/>
            <a:r>
              <a:rPr sz="2200" b="1" i="0">
                <a:solidFill>
                  <a:srgbClr val="FFFFFF"/>
                </a:solidFill>
                <a:latin typeface="Calibri"/>
              </a:rPr>
              <a:t>Leadership</a:t>
            </a:r>
          </a:p>
        </p:txBody>
      </p:sp>
      <p:sp>
        <p:nvSpPr>
          <p:cNvPr id="9" name="TextBox 8"/>
          <p:cNvSpPr txBox="1"/>
          <p:nvPr/>
        </p:nvSpPr>
        <p:spPr>
          <a:xfrm>
            <a:off x="4449927" y="3840480"/>
            <a:ext cx="3291840" cy="1280160"/>
          </a:xfrm>
          <a:prstGeom prst="rect">
            <a:avLst/>
          </a:prstGeom>
          <a:noFill/>
        </p:spPr>
        <p:txBody>
          <a:bodyPr wrap="square" anchor="ctr" lIns="45720" rIns="45720">
            <a:spAutoFit/>
          </a:bodyPr>
          <a:lstStyle/>
          <a:p>
            <a:pPr algn="ctr"/>
            <a:r>
              <a:rPr sz="1500" b="0" i="1">
                <a:solidFill>
                  <a:srgbClr val="ECF0F1"/>
                </a:solidFill>
                <a:latin typeface="Calibri"/>
              </a:rPr>
              <a:t>Burns (1978) and Bass (1985) Transformational vs. Transactional</a:t>
            </a:r>
          </a:p>
        </p:txBody>
      </p:sp>
      <p:sp>
        <p:nvSpPr>
          <p:cNvPr id="10" name="Rectangle 9"/>
          <p:cNvSpPr/>
          <p:nvPr/>
        </p:nvSpPr>
        <p:spPr>
          <a:xfrm>
            <a:off x="8290407" y="2377440"/>
            <a:ext cx="3291840" cy="29260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0407" y="2926080"/>
            <a:ext cx="3291840" cy="731520"/>
          </a:xfrm>
          <a:prstGeom prst="rect">
            <a:avLst/>
          </a:prstGeom>
          <a:noFill/>
        </p:spPr>
        <p:txBody>
          <a:bodyPr wrap="square" anchor="ctr" lIns="45720" rIns="45720">
            <a:spAutoFit/>
          </a:bodyPr>
          <a:lstStyle/>
          <a:p>
            <a:pPr algn="ctr"/>
            <a:r>
              <a:rPr sz="2200" b="1" i="0">
                <a:solidFill>
                  <a:srgbClr val="FFFFFF"/>
                </a:solidFill>
                <a:latin typeface="Calibri"/>
              </a:rPr>
              <a:t>Job Satisfaction</a:t>
            </a:r>
          </a:p>
        </p:txBody>
      </p:sp>
      <p:sp>
        <p:nvSpPr>
          <p:cNvPr id="12" name="TextBox 11"/>
          <p:cNvSpPr txBox="1"/>
          <p:nvPr/>
        </p:nvSpPr>
        <p:spPr>
          <a:xfrm>
            <a:off x="8290407" y="3840480"/>
            <a:ext cx="3291840" cy="1280160"/>
          </a:xfrm>
          <a:prstGeom prst="rect">
            <a:avLst/>
          </a:prstGeom>
          <a:noFill/>
        </p:spPr>
        <p:txBody>
          <a:bodyPr wrap="square" anchor="ctr" lIns="45720" rIns="45720">
            <a:spAutoFit/>
          </a:bodyPr>
          <a:lstStyle/>
          <a:p>
            <a:pPr algn="ctr"/>
            <a:r>
              <a:rPr sz="1500" b="0" i="1">
                <a:solidFill>
                  <a:srgbClr val="ECF0F1"/>
                </a:solidFill>
                <a:latin typeface="Calibri"/>
              </a:rPr>
              <a:t>Herzberg (1959) Two-Factor Theory</a:t>
            </a:r>
          </a:p>
        </p:txBody>
      </p:sp>
      <p:sp>
        <p:nvSpPr>
          <p:cNvPr id="13" name="TextBox 12"/>
          <p:cNvSpPr txBox="1"/>
          <p:nvPr/>
        </p:nvSpPr>
        <p:spPr>
          <a:xfrm>
            <a:off x="685800" y="5669280"/>
            <a:ext cx="10817352" cy="548640"/>
          </a:xfrm>
          <a:prstGeom prst="rect">
            <a:avLst/>
          </a:prstGeom>
          <a:noFill/>
        </p:spPr>
        <p:txBody>
          <a:bodyPr wrap="square" anchor="t" lIns="45720" rIns="45720">
            <a:spAutoFit/>
          </a:bodyPr>
          <a:lstStyle/>
          <a:p>
            <a:pPr algn="ctr"/>
            <a:r>
              <a:rPr sz="1800" b="0" i="1">
                <a:solidFill>
                  <a:srgbClr val="555555"/>
                </a:solidFill>
                <a:latin typeface="Calibri"/>
              </a:rPr>
              <a:t>Culture sets the environment. Leadership reinforces it shift by shift. Satisfaction is the outcome.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200" b="1" i="0">
                <a:solidFill>
                  <a:srgbClr val="2C3E50"/>
                </a:solidFill>
                <a:latin typeface="Calibri"/>
              </a:rPr>
              <a:t>Organizational Culture: Schein's Three Levels (1985)</a:t>
            </a:r>
          </a:p>
        </p:txBody>
      </p:sp>
      <p:sp>
        <p:nvSpPr>
          <p:cNvPr id="3" name="Rectangle 2"/>
          <p:cNvSpPr/>
          <p:nvPr/>
        </p:nvSpPr>
        <p:spPr>
          <a:xfrm>
            <a:off x="685800" y="1280160"/>
            <a:ext cx="2286000" cy="54864"/>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828800"/>
            <a:ext cx="10817352" cy="13258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011680"/>
            <a:ext cx="4114800" cy="548640"/>
          </a:xfrm>
          <a:prstGeom prst="rect">
            <a:avLst/>
          </a:prstGeom>
          <a:noFill/>
        </p:spPr>
        <p:txBody>
          <a:bodyPr wrap="square" anchor="ctr" lIns="45720" rIns="45720">
            <a:spAutoFit/>
          </a:bodyPr>
          <a:lstStyle/>
          <a:p>
            <a:pPr algn="l"/>
            <a:r>
              <a:rPr sz="2200" b="1" i="0">
                <a:solidFill>
                  <a:srgbClr val="FFFFFF"/>
                </a:solidFill>
                <a:latin typeface="Calibri"/>
              </a:rPr>
              <a:t>1.  Artifacts</a:t>
            </a:r>
          </a:p>
        </p:txBody>
      </p:sp>
      <p:sp>
        <p:nvSpPr>
          <p:cNvPr id="6" name="TextBox 5"/>
          <p:cNvSpPr txBox="1"/>
          <p:nvPr/>
        </p:nvSpPr>
        <p:spPr>
          <a:xfrm>
            <a:off x="5257800" y="2011680"/>
            <a:ext cx="6035040" cy="960120"/>
          </a:xfrm>
          <a:prstGeom prst="rect">
            <a:avLst/>
          </a:prstGeom>
          <a:noFill/>
        </p:spPr>
        <p:txBody>
          <a:bodyPr wrap="square" anchor="ctr" lIns="45720" rIns="45720">
            <a:spAutoFit/>
          </a:bodyPr>
          <a:lstStyle/>
          <a:p>
            <a:pPr algn="l"/>
            <a:r>
              <a:rPr sz="1600" b="0" i="0">
                <a:solidFill>
                  <a:srgbClr val="FFFFFF"/>
                </a:solidFill>
                <a:latin typeface="Calibri"/>
              </a:rPr>
              <a:t>Visible structures, processes, behaviors. What anyone notices on day one.</a:t>
            </a:r>
          </a:p>
        </p:txBody>
      </p:sp>
      <p:sp>
        <p:nvSpPr>
          <p:cNvPr id="7" name="Rectangle 6"/>
          <p:cNvSpPr/>
          <p:nvPr/>
        </p:nvSpPr>
        <p:spPr>
          <a:xfrm>
            <a:off x="685800" y="3319272"/>
            <a:ext cx="10817352" cy="1325880"/>
          </a:xfrm>
          <a:prstGeom prst="rect">
            <a:avLst/>
          </a:prstGeom>
          <a:solidFill>
            <a:srgbClr val="6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502152"/>
            <a:ext cx="4114800" cy="548640"/>
          </a:xfrm>
          <a:prstGeom prst="rect">
            <a:avLst/>
          </a:prstGeom>
          <a:noFill/>
        </p:spPr>
        <p:txBody>
          <a:bodyPr wrap="square" anchor="ctr" lIns="45720" rIns="45720">
            <a:spAutoFit/>
          </a:bodyPr>
          <a:lstStyle/>
          <a:p>
            <a:pPr algn="l"/>
            <a:r>
              <a:rPr sz="2200" b="1" i="0">
                <a:solidFill>
                  <a:srgbClr val="FFFFFF"/>
                </a:solidFill>
                <a:latin typeface="Calibri"/>
              </a:rPr>
              <a:t>2.  Espoused Values</a:t>
            </a:r>
          </a:p>
        </p:txBody>
      </p:sp>
      <p:sp>
        <p:nvSpPr>
          <p:cNvPr id="9" name="TextBox 8"/>
          <p:cNvSpPr txBox="1"/>
          <p:nvPr/>
        </p:nvSpPr>
        <p:spPr>
          <a:xfrm>
            <a:off x="5257800" y="3502152"/>
            <a:ext cx="6035040" cy="960120"/>
          </a:xfrm>
          <a:prstGeom prst="rect">
            <a:avLst/>
          </a:prstGeom>
          <a:noFill/>
        </p:spPr>
        <p:txBody>
          <a:bodyPr wrap="square" anchor="ctr" lIns="45720" rIns="45720">
            <a:spAutoFit/>
          </a:bodyPr>
          <a:lstStyle/>
          <a:p>
            <a:pPr algn="l"/>
            <a:r>
              <a:rPr sz="1600" b="0" i="0">
                <a:solidFill>
                  <a:srgbClr val="FFFFFF"/>
                </a:solidFill>
                <a:latin typeface="Calibri"/>
              </a:rPr>
              <a:t>Stated strategies, goals, philosophies. What the company says it stands for.</a:t>
            </a:r>
          </a:p>
        </p:txBody>
      </p:sp>
      <p:sp>
        <p:nvSpPr>
          <p:cNvPr id="10" name="Rectangle 9"/>
          <p:cNvSpPr/>
          <p:nvPr/>
        </p:nvSpPr>
        <p:spPr>
          <a:xfrm>
            <a:off x="685800" y="4809744"/>
            <a:ext cx="10817352" cy="13258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992624"/>
            <a:ext cx="4114800" cy="548640"/>
          </a:xfrm>
          <a:prstGeom prst="rect">
            <a:avLst/>
          </a:prstGeom>
          <a:noFill/>
        </p:spPr>
        <p:txBody>
          <a:bodyPr wrap="square" anchor="ctr" lIns="45720" rIns="45720">
            <a:spAutoFit/>
          </a:bodyPr>
          <a:lstStyle/>
          <a:p>
            <a:pPr algn="l"/>
            <a:r>
              <a:rPr sz="2200" b="1" i="0">
                <a:solidFill>
                  <a:srgbClr val="FFFFFF"/>
                </a:solidFill>
                <a:latin typeface="Calibri"/>
              </a:rPr>
              <a:t>3.  Basic Underlying Assumptions</a:t>
            </a:r>
          </a:p>
        </p:txBody>
      </p:sp>
      <p:sp>
        <p:nvSpPr>
          <p:cNvPr id="12" name="TextBox 11"/>
          <p:cNvSpPr txBox="1"/>
          <p:nvPr/>
        </p:nvSpPr>
        <p:spPr>
          <a:xfrm>
            <a:off x="5257800" y="4992624"/>
            <a:ext cx="6035040" cy="960120"/>
          </a:xfrm>
          <a:prstGeom prst="rect">
            <a:avLst/>
          </a:prstGeom>
          <a:noFill/>
        </p:spPr>
        <p:txBody>
          <a:bodyPr wrap="square" anchor="ctr" lIns="45720" rIns="45720">
            <a:spAutoFit/>
          </a:bodyPr>
          <a:lstStyle/>
          <a:p>
            <a:pPr algn="l"/>
            <a:r>
              <a:rPr sz="1600" b="0" i="0">
                <a:solidFill>
                  <a:srgbClr val="FFFFFF"/>
                </a:solidFill>
                <a:latin typeface="Calibri"/>
              </a:rPr>
              <a:t>Unconscious, taken-for-granted beliefs that actually drive behavior.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600" b="1" i="0">
                <a:solidFill>
                  <a:srgbClr val="2C3E50"/>
                </a:solidFill>
                <a:latin typeface="Calibri"/>
              </a:rPr>
              <a:t>Culture Comparison</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91640"/>
            <a:ext cx="5486400" cy="548640"/>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91640"/>
            <a:ext cx="5486400" cy="548640"/>
          </a:xfrm>
          <a:prstGeom prst="rect">
            <a:avLst/>
          </a:prstGeom>
          <a:noFill/>
        </p:spPr>
        <p:txBody>
          <a:bodyPr wrap="square" anchor="ctr" lIns="45720" rIns="45720">
            <a:spAutoFit/>
          </a:bodyPr>
          <a:lstStyle/>
          <a:p>
            <a:pPr algn="ctr"/>
            <a:r>
              <a:rPr sz="2200" b="1" i="0">
                <a:solidFill>
                  <a:srgbClr val="FFFFFF"/>
                </a:solidFill>
                <a:latin typeface="Calibri"/>
              </a:rPr>
              <a:t>Chick-fil-A</a:t>
            </a:r>
          </a:p>
        </p:txBody>
      </p:sp>
      <p:sp>
        <p:nvSpPr>
          <p:cNvPr id="6" name="TextBox 5"/>
          <p:cNvSpPr txBox="1"/>
          <p:nvPr/>
        </p:nvSpPr>
        <p:spPr>
          <a:xfrm>
            <a:off x="457200" y="2468880"/>
            <a:ext cx="5486400" cy="411480"/>
          </a:xfrm>
          <a:prstGeom prst="rect">
            <a:avLst/>
          </a:prstGeom>
          <a:noFill/>
        </p:spPr>
        <p:txBody>
          <a:bodyPr wrap="square" anchor="t" lIns="45720" rIns="45720">
            <a:spAutoFit/>
          </a:bodyPr>
          <a:lstStyle/>
          <a:p>
            <a:pPr algn="l"/>
            <a:r>
              <a:rPr sz="1700" b="1" i="0">
                <a:solidFill>
                  <a:srgbClr val="E51636"/>
                </a:solidFill>
                <a:latin typeface="Calibri"/>
              </a:rPr>
              <a:t>Artifacts</a:t>
            </a:r>
          </a:p>
        </p:txBody>
      </p:sp>
      <p:sp>
        <p:nvSpPr>
          <p:cNvPr id="7" name="TextBox 6"/>
          <p:cNvSpPr txBox="1"/>
          <p:nvPr/>
        </p:nvSpPr>
        <p:spPr>
          <a:xfrm>
            <a:off x="457200" y="2880360"/>
            <a:ext cx="5486400" cy="868680"/>
          </a:xfrm>
          <a:prstGeom prst="rect">
            <a:avLst/>
          </a:prstGeom>
          <a:noFill/>
        </p:spPr>
        <p:txBody>
          <a:bodyPr wrap="square" anchor="t" lIns="45720" rIns="45720">
            <a:spAutoFit/>
          </a:bodyPr>
          <a:lstStyle/>
          <a:p>
            <a:pPr algn="l"/>
            <a:r>
              <a:rPr sz="1500" b="0" i="0">
                <a:solidFill>
                  <a:srgbClr val="222222"/>
                </a:solidFill>
                <a:latin typeface="Calibri"/>
              </a:rPr>
              <a:t>Clean stores, matching uniforms, scripted "My Pleasure" response, Sundays closed.</a:t>
            </a:r>
          </a:p>
        </p:txBody>
      </p:sp>
      <p:sp>
        <p:nvSpPr>
          <p:cNvPr id="8" name="TextBox 7"/>
          <p:cNvSpPr txBox="1"/>
          <p:nvPr/>
        </p:nvSpPr>
        <p:spPr>
          <a:xfrm>
            <a:off x="457200" y="3794760"/>
            <a:ext cx="5486400" cy="411480"/>
          </a:xfrm>
          <a:prstGeom prst="rect">
            <a:avLst/>
          </a:prstGeom>
          <a:noFill/>
        </p:spPr>
        <p:txBody>
          <a:bodyPr wrap="square" anchor="t" lIns="45720" rIns="45720">
            <a:spAutoFit/>
          </a:bodyPr>
          <a:lstStyle/>
          <a:p>
            <a:pPr algn="l"/>
            <a:r>
              <a:rPr sz="1700" b="1" i="0">
                <a:solidFill>
                  <a:srgbClr val="E51636"/>
                </a:solidFill>
                <a:latin typeface="Calibri"/>
              </a:rPr>
              <a:t>Espoused Values</a:t>
            </a:r>
          </a:p>
        </p:txBody>
      </p:sp>
      <p:sp>
        <p:nvSpPr>
          <p:cNvPr id="9" name="TextBox 8"/>
          <p:cNvSpPr txBox="1"/>
          <p:nvPr/>
        </p:nvSpPr>
        <p:spPr>
          <a:xfrm>
            <a:off x="457200" y="4206240"/>
            <a:ext cx="5486400" cy="868680"/>
          </a:xfrm>
          <a:prstGeom prst="rect">
            <a:avLst/>
          </a:prstGeom>
          <a:noFill/>
        </p:spPr>
        <p:txBody>
          <a:bodyPr wrap="square" anchor="t" lIns="45720" rIns="45720">
            <a:spAutoFit/>
          </a:bodyPr>
          <a:lstStyle/>
          <a:p>
            <a:pPr algn="l"/>
            <a:r>
              <a:rPr sz="1500" b="0" i="0">
                <a:solidFill>
                  <a:srgbClr val="222222"/>
                </a:solidFill>
                <a:latin typeface="Calibri"/>
              </a:rPr>
              <a:t>Corporate purpose: stewardship and positive influence on every guest.</a:t>
            </a:r>
          </a:p>
        </p:txBody>
      </p:sp>
      <p:sp>
        <p:nvSpPr>
          <p:cNvPr id="10" name="TextBox 9"/>
          <p:cNvSpPr txBox="1"/>
          <p:nvPr/>
        </p:nvSpPr>
        <p:spPr>
          <a:xfrm>
            <a:off x="457200" y="5120640"/>
            <a:ext cx="5486400" cy="411480"/>
          </a:xfrm>
          <a:prstGeom prst="rect">
            <a:avLst/>
          </a:prstGeom>
          <a:noFill/>
        </p:spPr>
        <p:txBody>
          <a:bodyPr wrap="square" anchor="t" lIns="45720" rIns="45720">
            <a:spAutoFit/>
          </a:bodyPr>
          <a:lstStyle/>
          <a:p>
            <a:pPr algn="l"/>
            <a:r>
              <a:rPr sz="1700" b="1" i="0">
                <a:solidFill>
                  <a:srgbClr val="E51636"/>
                </a:solidFill>
                <a:latin typeface="Calibri"/>
              </a:rPr>
              <a:t>Basic Assumptions</a:t>
            </a:r>
          </a:p>
        </p:txBody>
      </p:sp>
      <p:sp>
        <p:nvSpPr>
          <p:cNvPr id="11" name="TextBox 10"/>
          <p:cNvSpPr txBox="1"/>
          <p:nvPr/>
        </p:nvSpPr>
        <p:spPr>
          <a:xfrm>
            <a:off x="457200" y="5532120"/>
            <a:ext cx="5486400" cy="868680"/>
          </a:xfrm>
          <a:prstGeom prst="rect">
            <a:avLst/>
          </a:prstGeom>
          <a:noFill/>
        </p:spPr>
        <p:txBody>
          <a:bodyPr wrap="square" anchor="t" lIns="45720" rIns="45720">
            <a:spAutoFit/>
          </a:bodyPr>
          <a:lstStyle/>
          <a:p>
            <a:pPr algn="l"/>
            <a:r>
              <a:rPr sz="1500" b="0" i="0">
                <a:solidFill>
                  <a:srgbClr val="222222"/>
                </a:solidFill>
                <a:latin typeface="Calibri"/>
              </a:rPr>
              <a:t>Each interaction matters. The Operator on the floor reinforces this every shift.</a:t>
            </a:r>
          </a:p>
        </p:txBody>
      </p:sp>
      <p:sp>
        <p:nvSpPr>
          <p:cNvPr id="12" name="Rectangle 11"/>
          <p:cNvSpPr/>
          <p:nvPr/>
        </p:nvSpPr>
        <p:spPr>
          <a:xfrm>
            <a:off x="6172200" y="1691640"/>
            <a:ext cx="5486400" cy="548640"/>
          </a:xfrm>
          <a:prstGeom prst="rect">
            <a:avLst/>
          </a:prstGeom>
          <a:solidFill>
            <a:srgbClr val="F15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691640"/>
            <a:ext cx="5486400" cy="548640"/>
          </a:xfrm>
          <a:prstGeom prst="rect">
            <a:avLst/>
          </a:prstGeom>
          <a:noFill/>
        </p:spPr>
        <p:txBody>
          <a:bodyPr wrap="square" anchor="ctr" lIns="45720" rIns="45720">
            <a:spAutoFit/>
          </a:bodyPr>
          <a:lstStyle/>
          <a:p>
            <a:pPr algn="ctr"/>
            <a:r>
              <a:rPr sz="2200" b="1" i="0">
                <a:solidFill>
                  <a:srgbClr val="FFFFFF"/>
                </a:solidFill>
                <a:latin typeface="Calibri"/>
              </a:rPr>
              <a:t>Popeyes</a:t>
            </a:r>
          </a:p>
        </p:txBody>
      </p:sp>
      <p:sp>
        <p:nvSpPr>
          <p:cNvPr id="14" name="TextBox 13"/>
          <p:cNvSpPr txBox="1"/>
          <p:nvPr/>
        </p:nvSpPr>
        <p:spPr>
          <a:xfrm>
            <a:off x="6172200" y="2468880"/>
            <a:ext cx="5486400" cy="411480"/>
          </a:xfrm>
          <a:prstGeom prst="rect">
            <a:avLst/>
          </a:prstGeom>
          <a:noFill/>
        </p:spPr>
        <p:txBody>
          <a:bodyPr wrap="square" anchor="t" lIns="45720" rIns="45720">
            <a:spAutoFit/>
          </a:bodyPr>
          <a:lstStyle/>
          <a:p>
            <a:pPr algn="l"/>
            <a:r>
              <a:rPr sz="1700" b="1" i="0">
                <a:solidFill>
                  <a:srgbClr val="F15A22"/>
                </a:solidFill>
                <a:latin typeface="Calibri"/>
              </a:rPr>
              <a:t>Artifacts</a:t>
            </a:r>
          </a:p>
        </p:txBody>
      </p:sp>
      <p:sp>
        <p:nvSpPr>
          <p:cNvPr id="15" name="TextBox 14"/>
          <p:cNvSpPr txBox="1"/>
          <p:nvPr/>
        </p:nvSpPr>
        <p:spPr>
          <a:xfrm>
            <a:off x="6172200" y="2880360"/>
            <a:ext cx="5486400" cy="868680"/>
          </a:xfrm>
          <a:prstGeom prst="rect">
            <a:avLst/>
          </a:prstGeom>
          <a:noFill/>
        </p:spPr>
        <p:txBody>
          <a:bodyPr wrap="square" anchor="t" lIns="45720" rIns="45720">
            <a:spAutoFit/>
          </a:bodyPr>
          <a:lstStyle/>
          <a:p>
            <a:pPr algn="l"/>
            <a:r>
              <a:rPr sz="1500" b="0" i="0">
                <a:solidFill>
                  <a:srgbClr val="222222"/>
                </a:solidFill>
                <a:latin typeface="Calibri"/>
              </a:rPr>
              <a:t>Maintenance varies store to store, no signature script, looser uniform standards.</a:t>
            </a:r>
          </a:p>
        </p:txBody>
      </p:sp>
      <p:sp>
        <p:nvSpPr>
          <p:cNvPr id="16" name="TextBox 15"/>
          <p:cNvSpPr txBox="1"/>
          <p:nvPr/>
        </p:nvSpPr>
        <p:spPr>
          <a:xfrm>
            <a:off x="6172200" y="3794760"/>
            <a:ext cx="5486400" cy="411480"/>
          </a:xfrm>
          <a:prstGeom prst="rect">
            <a:avLst/>
          </a:prstGeom>
          <a:noFill/>
        </p:spPr>
        <p:txBody>
          <a:bodyPr wrap="square" anchor="t" lIns="45720" rIns="45720">
            <a:spAutoFit/>
          </a:bodyPr>
          <a:lstStyle/>
          <a:p>
            <a:pPr algn="l"/>
            <a:r>
              <a:rPr sz="1700" b="1" i="0">
                <a:solidFill>
                  <a:srgbClr val="F15A22"/>
                </a:solidFill>
                <a:latin typeface="Calibri"/>
              </a:rPr>
              <a:t>Espoused Values</a:t>
            </a:r>
          </a:p>
        </p:txBody>
      </p:sp>
      <p:sp>
        <p:nvSpPr>
          <p:cNvPr id="17" name="TextBox 16"/>
          <p:cNvSpPr txBox="1"/>
          <p:nvPr/>
        </p:nvSpPr>
        <p:spPr>
          <a:xfrm>
            <a:off x="6172200" y="4206240"/>
            <a:ext cx="5486400" cy="868680"/>
          </a:xfrm>
          <a:prstGeom prst="rect">
            <a:avLst/>
          </a:prstGeom>
          <a:noFill/>
        </p:spPr>
        <p:txBody>
          <a:bodyPr wrap="square" anchor="t" lIns="45720" rIns="45720">
            <a:spAutoFit/>
          </a:bodyPr>
          <a:lstStyle/>
          <a:p>
            <a:pPr algn="l"/>
            <a:r>
              <a:rPr sz="1500" b="0" i="0">
                <a:solidFill>
                  <a:srgbClr val="222222"/>
                </a:solidFill>
                <a:latin typeface="Calibri"/>
              </a:rPr>
              <a:t>Servant-leadership framework stated at corporate, not carried to franchise stores.</a:t>
            </a:r>
          </a:p>
        </p:txBody>
      </p:sp>
      <p:sp>
        <p:nvSpPr>
          <p:cNvPr id="18" name="TextBox 17"/>
          <p:cNvSpPr txBox="1"/>
          <p:nvPr/>
        </p:nvSpPr>
        <p:spPr>
          <a:xfrm>
            <a:off x="6172200" y="5120640"/>
            <a:ext cx="5486400" cy="411480"/>
          </a:xfrm>
          <a:prstGeom prst="rect">
            <a:avLst/>
          </a:prstGeom>
          <a:noFill/>
        </p:spPr>
        <p:txBody>
          <a:bodyPr wrap="square" anchor="t" lIns="45720" rIns="45720">
            <a:spAutoFit/>
          </a:bodyPr>
          <a:lstStyle/>
          <a:p>
            <a:pPr algn="l"/>
            <a:r>
              <a:rPr sz="1700" b="1" i="0">
                <a:solidFill>
                  <a:srgbClr val="F15A22"/>
                </a:solidFill>
                <a:latin typeface="Calibri"/>
              </a:rPr>
              <a:t>Basic Assumptions</a:t>
            </a:r>
          </a:p>
        </p:txBody>
      </p:sp>
      <p:sp>
        <p:nvSpPr>
          <p:cNvPr id="19" name="TextBox 18"/>
          <p:cNvSpPr txBox="1"/>
          <p:nvPr/>
        </p:nvSpPr>
        <p:spPr>
          <a:xfrm>
            <a:off x="6172200" y="5532120"/>
            <a:ext cx="5486400" cy="868680"/>
          </a:xfrm>
          <a:prstGeom prst="rect">
            <a:avLst/>
          </a:prstGeom>
          <a:noFill/>
        </p:spPr>
        <p:txBody>
          <a:bodyPr wrap="square" anchor="t" lIns="45720" rIns="45720">
            <a:spAutoFit/>
          </a:bodyPr>
          <a:lstStyle/>
          <a:p>
            <a:pPr algn="l"/>
            <a:r>
              <a:rPr sz="1500" b="0" i="0">
                <a:solidFill>
                  <a:srgbClr val="222222"/>
                </a:solidFill>
                <a:latin typeface="Calibri"/>
              </a:rPr>
              <a:t>Crew often treats the job as transactional. High turnover signals replaceability.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200" b="1" i="0">
                <a:solidFill>
                  <a:srgbClr val="2C3E50"/>
                </a:solidFill>
                <a:latin typeface="Calibri"/>
              </a:rPr>
              <a:t>Leadership: Transformational vs. Transactional</a:t>
            </a:r>
          </a:p>
        </p:txBody>
      </p:sp>
      <p:sp>
        <p:nvSpPr>
          <p:cNvPr id="3" name="Rectangle 2"/>
          <p:cNvSpPr/>
          <p:nvPr/>
        </p:nvSpPr>
        <p:spPr>
          <a:xfrm>
            <a:off x="685800" y="1280160"/>
            <a:ext cx="2286000" cy="54864"/>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783080"/>
            <a:ext cx="5486400" cy="54864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83080"/>
            <a:ext cx="5486400" cy="548640"/>
          </a:xfrm>
          <a:prstGeom prst="rect">
            <a:avLst/>
          </a:prstGeom>
          <a:noFill/>
        </p:spPr>
        <p:txBody>
          <a:bodyPr wrap="square" anchor="ctr" lIns="45720" rIns="45720">
            <a:spAutoFit/>
          </a:bodyPr>
          <a:lstStyle/>
          <a:p>
            <a:pPr algn="ctr"/>
            <a:r>
              <a:rPr sz="1800" b="1" i="0">
                <a:solidFill>
                  <a:srgbClr val="FFFFFF"/>
                </a:solidFill>
                <a:latin typeface="Calibri"/>
              </a:rPr>
              <a:t>Transformational  (Burns 1978  /  Bass 1985)</a:t>
            </a:r>
          </a:p>
        </p:txBody>
      </p:sp>
      <p:sp>
        <p:nvSpPr>
          <p:cNvPr id="6" name="TextBox 5"/>
          <p:cNvSpPr txBox="1"/>
          <p:nvPr/>
        </p:nvSpPr>
        <p:spPr>
          <a:xfrm>
            <a:off x="640080" y="2560320"/>
            <a:ext cx="5120640" cy="3474720"/>
          </a:xfrm>
          <a:prstGeom prst="rect">
            <a:avLst/>
          </a:prstGeom>
          <a:noFill/>
        </p:spPr>
        <p:txBody>
          <a:bodyPr wrap="square" lIns="45720" rIns="45720">
            <a:spAutoFit/>
          </a:bodyPr>
          <a:lstStyle/>
          <a:p>
            <a:pPr>
              <a:lnSpc>
                <a:spcPct val="130000"/>
              </a:lnSpc>
              <a:spcAft>
                <a:spcPts val="400"/>
              </a:spcAft>
            </a:pPr>
            <a:r>
              <a:rPr sz="1600" b="0" i="0">
                <a:solidFill>
                  <a:srgbClr val="222222"/>
                </a:solidFill>
                <a:latin typeface="Calibri"/>
              </a:rPr>
              <a:t>•  Idealized influence: lead by example</a:t>
            </a:r>
          </a:p>
          <a:p>
            <a:pPr>
              <a:lnSpc>
                <a:spcPct val="130000"/>
              </a:lnSpc>
              <a:spcAft>
                <a:spcPts val="400"/>
              </a:spcAft>
            </a:pPr>
            <a:r>
              <a:rPr sz="1600" b="0" i="0">
                <a:solidFill>
                  <a:srgbClr val="222222"/>
                </a:solidFill>
                <a:latin typeface="Calibri"/>
              </a:rPr>
              <a:t>•  Inspirational motivation: shared vision</a:t>
            </a:r>
          </a:p>
          <a:p>
            <a:pPr>
              <a:lnSpc>
                <a:spcPct val="130000"/>
              </a:lnSpc>
              <a:spcAft>
                <a:spcPts val="400"/>
              </a:spcAft>
            </a:pPr>
            <a:r>
              <a:rPr sz="1600" b="0" i="0">
                <a:solidFill>
                  <a:srgbClr val="222222"/>
                </a:solidFill>
                <a:latin typeface="Calibri"/>
              </a:rPr>
              <a:t>•  Intellectual stimulation: challenge people to grow</a:t>
            </a:r>
          </a:p>
          <a:p>
            <a:pPr>
              <a:lnSpc>
                <a:spcPct val="130000"/>
              </a:lnSpc>
              <a:spcAft>
                <a:spcPts val="400"/>
              </a:spcAft>
            </a:pPr>
            <a:r>
              <a:rPr sz="1600" b="0" i="0">
                <a:solidFill>
                  <a:srgbClr val="222222"/>
                </a:solidFill>
                <a:latin typeface="Calibri"/>
              </a:rPr>
              <a:t>•  Individualized consideration: develop each person</a:t>
            </a:r>
          </a:p>
        </p:txBody>
      </p:sp>
      <p:sp>
        <p:nvSpPr>
          <p:cNvPr id="7" name="Rectangle 6"/>
          <p:cNvSpPr/>
          <p:nvPr/>
        </p:nvSpPr>
        <p:spPr>
          <a:xfrm>
            <a:off x="6172200" y="1783080"/>
            <a:ext cx="5486400" cy="54864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783080"/>
            <a:ext cx="5486400" cy="548640"/>
          </a:xfrm>
          <a:prstGeom prst="rect">
            <a:avLst/>
          </a:prstGeom>
          <a:noFill/>
        </p:spPr>
        <p:txBody>
          <a:bodyPr wrap="square" anchor="ctr" lIns="45720" rIns="45720">
            <a:spAutoFit/>
          </a:bodyPr>
          <a:lstStyle/>
          <a:p>
            <a:pPr algn="ctr"/>
            <a:r>
              <a:rPr sz="1800" b="1" i="0">
                <a:solidFill>
                  <a:srgbClr val="FFFFFF"/>
                </a:solidFill>
                <a:latin typeface="Calibri"/>
              </a:rPr>
              <a:t>Transactional</a:t>
            </a:r>
          </a:p>
        </p:txBody>
      </p:sp>
      <p:sp>
        <p:nvSpPr>
          <p:cNvPr id="9" name="TextBox 8"/>
          <p:cNvSpPr txBox="1"/>
          <p:nvPr/>
        </p:nvSpPr>
        <p:spPr>
          <a:xfrm>
            <a:off x="6355080" y="2560320"/>
            <a:ext cx="5120640" cy="3474720"/>
          </a:xfrm>
          <a:prstGeom prst="rect">
            <a:avLst/>
          </a:prstGeom>
          <a:noFill/>
        </p:spPr>
        <p:txBody>
          <a:bodyPr wrap="square" lIns="45720" rIns="45720">
            <a:spAutoFit/>
          </a:bodyPr>
          <a:lstStyle/>
          <a:p>
            <a:pPr>
              <a:lnSpc>
                <a:spcPct val="130000"/>
              </a:lnSpc>
              <a:spcAft>
                <a:spcPts val="400"/>
              </a:spcAft>
            </a:pPr>
            <a:r>
              <a:rPr sz="1600" b="0" i="0">
                <a:solidFill>
                  <a:srgbClr val="222222"/>
                </a:solidFill>
                <a:latin typeface="Calibri"/>
              </a:rPr>
              <a:t>•  Contingent reward: pay tied to performance</a:t>
            </a:r>
          </a:p>
          <a:p>
            <a:pPr>
              <a:lnSpc>
                <a:spcPct val="130000"/>
              </a:lnSpc>
              <a:spcAft>
                <a:spcPts val="400"/>
              </a:spcAft>
            </a:pPr>
            <a:r>
              <a:rPr sz="1600" b="0" i="0">
                <a:solidFill>
                  <a:srgbClr val="222222"/>
                </a:solidFill>
                <a:latin typeface="Calibri"/>
              </a:rPr>
              <a:t>•  Management by exception: intervene only when problems arise</a:t>
            </a:r>
          </a:p>
        </p:txBody>
      </p:sp>
      <p:sp>
        <p:nvSpPr>
          <p:cNvPr id="10" name="TextBox 9"/>
          <p:cNvSpPr txBox="1"/>
          <p:nvPr/>
        </p:nvSpPr>
        <p:spPr>
          <a:xfrm>
            <a:off x="685800" y="6035040"/>
            <a:ext cx="10817352" cy="548640"/>
          </a:xfrm>
          <a:prstGeom prst="rect">
            <a:avLst/>
          </a:prstGeom>
          <a:noFill/>
        </p:spPr>
        <p:txBody>
          <a:bodyPr wrap="square" anchor="t" lIns="45720" rIns="45720">
            <a:spAutoFit/>
          </a:bodyPr>
          <a:lstStyle/>
          <a:p>
            <a:pPr algn="ctr"/>
            <a:r>
              <a:rPr sz="1500" b="0" i="1">
                <a:solidFill>
                  <a:srgbClr val="555555"/>
                </a:solidFill>
                <a:latin typeface="Calibri"/>
              </a:rPr>
              <a:t>Transformational leadership predicts higher commitment, lower turnover, and stronger performance in meta-analyses.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600" b="1" i="0">
                <a:solidFill>
                  <a:srgbClr val="2C3E50"/>
                </a:solidFill>
                <a:latin typeface="Calibri"/>
              </a:rPr>
              <a:t>Leadership Comparison</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91640"/>
            <a:ext cx="5486400" cy="548640"/>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91640"/>
            <a:ext cx="5486400" cy="548640"/>
          </a:xfrm>
          <a:prstGeom prst="rect">
            <a:avLst/>
          </a:prstGeom>
          <a:noFill/>
        </p:spPr>
        <p:txBody>
          <a:bodyPr wrap="square" anchor="ctr" lIns="45720" rIns="45720">
            <a:spAutoFit/>
          </a:bodyPr>
          <a:lstStyle/>
          <a:p>
            <a:pPr algn="ctr"/>
            <a:r>
              <a:rPr sz="2000" b="1" i="0">
                <a:solidFill>
                  <a:srgbClr val="FFFFFF"/>
                </a:solidFill>
                <a:latin typeface="Calibri"/>
              </a:rPr>
              <a:t>Chick-fil-A: transformational</a:t>
            </a:r>
          </a:p>
        </p:txBody>
      </p:sp>
      <p:sp>
        <p:nvSpPr>
          <p:cNvPr id="6" name="TextBox 5"/>
          <p:cNvSpPr txBox="1"/>
          <p:nvPr/>
        </p:nvSpPr>
        <p:spPr>
          <a:xfrm>
            <a:off x="640080" y="2468880"/>
            <a:ext cx="5120640" cy="3840480"/>
          </a:xfrm>
          <a:prstGeom prst="rect">
            <a:avLst/>
          </a:prstGeom>
          <a:noFill/>
        </p:spPr>
        <p:txBody>
          <a:bodyPr wrap="square" lIns="45720" rIns="45720">
            <a:spAutoFit/>
          </a:bodyPr>
          <a:lstStyle/>
          <a:p>
            <a:pPr>
              <a:lnSpc>
                <a:spcPct val="130000"/>
              </a:lnSpc>
              <a:spcAft>
                <a:spcPts val="400"/>
              </a:spcAft>
            </a:pPr>
            <a:r>
              <a:rPr sz="1500" b="0" i="0">
                <a:solidFill>
                  <a:srgbClr val="222222"/>
                </a:solidFill>
                <a:latin typeface="Calibri"/>
              </a:rPr>
              <a:t>•  One Operator per store, hand-selected from roughly 40,000 applicants per year.</a:t>
            </a:r>
          </a:p>
          <a:p>
            <a:pPr>
              <a:lnSpc>
                <a:spcPct val="130000"/>
              </a:lnSpc>
              <a:spcAft>
                <a:spcPts val="400"/>
              </a:spcAft>
            </a:pPr>
            <a:r>
              <a:rPr sz="1500" b="0" i="0">
                <a:solidFill>
                  <a:srgbClr val="222222"/>
                </a:solidFill>
                <a:latin typeface="Calibri"/>
              </a:rPr>
              <a:t>•  Operator is on the floor daily and works the line during the rush.</a:t>
            </a:r>
          </a:p>
          <a:p>
            <a:pPr>
              <a:lnSpc>
                <a:spcPct val="130000"/>
              </a:lnSpc>
              <a:spcAft>
                <a:spcPts val="400"/>
              </a:spcAft>
            </a:pPr>
            <a:r>
              <a:rPr sz="1500" b="0" i="0">
                <a:solidFill>
                  <a:srgbClr val="222222"/>
                </a:solidFill>
                <a:latin typeface="Calibri"/>
              </a:rPr>
              <a:t>•  Promotes from within. Many corporate leaders began as hourly team members.</a:t>
            </a:r>
          </a:p>
          <a:p>
            <a:pPr>
              <a:lnSpc>
                <a:spcPct val="130000"/>
              </a:lnSpc>
              <a:spcAft>
                <a:spcPts val="400"/>
              </a:spcAft>
            </a:pPr>
            <a:r>
              <a:rPr sz="1500" b="0" i="0">
                <a:solidFill>
                  <a:srgbClr val="222222"/>
                </a:solidFill>
                <a:latin typeface="Calibri"/>
              </a:rPr>
              <a:t>•  Personal training, same-shift recognition, visible promotion path.</a:t>
            </a:r>
          </a:p>
        </p:txBody>
      </p:sp>
      <p:sp>
        <p:nvSpPr>
          <p:cNvPr id="7" name="Rectangle 6"/>
          <p:cNvSpPr/>
          <p:nvPr/>
        </p:nvSpPr>
        <p:spPr>
          <a:xfrm>
            <a:off x="6172200" y="1691640"/>
            <a:ext cx="5486400" cy="548640"/>
          </a:xfrm>
          <a:prstGeom prst="rect">
            <a:avLst/>
          </a:prstGeom>
          <a:solidFill>
            <a:srgbClr val="F15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691640"/>
            <a:ext cx="5486400" cy="548640"/>
          </a:xfrm>
          <a:prstGeom prst="rect">
            <a:avLst/>
          </a:prstGeom>
          <a:noFill/>
        </p:spPr>
        <p:txBody>
          <a:bodyPr wrap="square" anchor="ctr" lIns="45720" rIns="45720">
            <a:spAutoFit/>
          </a:bodyPr>
          <a:lstStyle/>
          <a:p>
            <a:pPr algn="ctr"/>
            <a:r>
              <a:rPr sz="2000" b="1" i="0">
                <a:solidFill>
                  <a:srgbClr val="FFFFFF"/>
                </a:solidFill>
                <a:latin typeface="Calibri"/>
              </a:rPr>
              <a:t>Popeyes: transactional</a:t>
            </a:r>
          </a:p>
        </p:txBody>
      </p:sp>
      <p:sp>
        <p:nvSpPr>
          <p:cNvPr id="9" name="TextBox 8"/>
          <p:cNvSpPr txBox="1"/>
          <p:nvPr/>
        </p:nvSpPr>
        <p:spPr>
          <a:xfrm>
            <a:off x="6355080" y="2468880"/>
            <a:ext cx="5120640" cy="3840480"/>
          </a:xfrm>
          <a:prstGeom prst="rect">
            <a:avLst/>
          </a:prstGeom>
          <a:noFill/>
        </p:spPr>
        <p:txBody>
          <a:bodyPr wrap="square" lIns="45720" rIns="45720">
            <a:spAutoFit/>
          </a:bodyPr>
          <a:lstStyle/>
          <a:p>
            <a:pPr>
              <a:lnSpc>
                <a:spcPct val="130000"/>
              </a:lnSpc>
              <a:spcAft>
                <a:spcPts val="400"/>
              </a:spcAft>
            </a:pPr>
            <a:r>
              <a:rPr sz="1500" b="0" i="0">
                <a:solidFill>
                  <a:srgbClr val="222222"/>
                </a:solidFill>
                <a:latin typeface="Calibri"/>
              </a:rPr>
              <a:t>•  Multi-unit franchisees may own dozens of stores.</a:t>
            </a:r>
          </a:p>
          <a:p>
            <a:pPr>
              <a:lnSpc>
                <a:spcPct val="130000"/>
              </a:lnSpc>
              <a:spcAft>
                <a:spcPts val="400"/>
              </a:spcAft>
            </a:pPr>
            <a:r>
              <a:rPr sz="1500" b="0" i="0">
                <a:solidFill>
                  <a:srgbClr val="222222"/>
                </a:solidFill>
                <a:latin typeface="Calibri"/>
              </a:rPr>
              <a:t>•  Daily management delegated to hired general managers without ownership stakes.</a:t>
            </a:r>
          </a:p>
          <a:p>
            <a:pPr>
              <a:lnSpc>
                <a:spcPct val="130000"/>
              </a:lnSpc>
              <a:spcAft>
                <a:spcPts val="400"/>
              </a:spcAft>
            </a:pPr>
            <a:r>
              <a:rPr sz="1500" b="0" i="0">
                <a:solidFill>
                  <a:srgbClr val="222222"/>
                </a:solidFill>
                <a:latin typeface="Calibri"/>
              </a:rPr>
              <a:t>•  Contingent reward: complete the shift, receive a paycheck.</a:t>
            </a:r>
          </a:p>
          <a:p>
            <a:pPr>
              <a:lnSpc>
                <a:spcPct val="130000"/>
              </a:lnSpc>
              <a:spcAft>
                <a:spcPts val="400"/>
              </a:spcAft>
            </a:pPr>
            <a:r>
              <a:rPr sz="1500" b="0" i="0">
                <a:solidFill>
                  <a:srgbClr val="222222"/>
                </a:solidFill>
                <a:latin typeface="Calibri"/>
              </a:rPr>
              <a:t>•  Management by exception: attention shows up only when something breaks.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200" b="1" i="0">
                <a:solidFill>
                  <a:srgbClr val="2C3E50"/>
                </a:solidFill>
                <a:latin typeface="Calibri"/>
              </a:rPr>
              <a:t>Job Satisfaction: Herzberg's Two-Factor Theory (1959)</a:t>
            </a:r>
          </a:p>
        </p:txBody>
      </p:sp>
      <p:sp>
        <p:nvSpPr>
          <p:cNvPr id="3" name="Rectangle 2"/>
          <p:cNvSpPr/>
          <p:nvPr/>
        </p:nvSpPr>
        <p:spPr>
          <a:xfrm>
            <a:off x="685800" y="1280160"/>
            <a:ext cx="2286000" cy="54864"/>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828800"/>
            <a:ext cx="5486400" cy="6400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5486400" cy="640080"/>
          </a:xfrm>
          <a:prstGeom prst="rect">
            <a:avLst/>
          </a:prstGeom>
          <a:noFill/>
        </p:spPr>
        <p:txBody>
          <a:bodyPr wrap="square" anchor="ctr" lIns="45720" rIns="45720">
            <a:spAutoFit/>
          </a:bodyPr>
          <a:lstStyle/>
          <a:p>
            <a:pPr algn="ctr"/>
            <a:r>
              <a:rPr sz="2000" b="1" i="0">
                <a:solidFill>
                  <a:srgbClr val="FFFFFF"/>
                </a:solidFill>
                <a:latin typeface="Calibri"/>
              </a:rPr>
              <a:t>Hygiene Factors</a:t>
            </a:r>
          </a:p>
        </p:txBody>
      </p:sp>
      <p:sp>
        <p:nvSpPr>
          <p:cNvPr id="6" name="TextBox 5"/>
          <p:cNvSpPr txBox="1"/>
          <p:nvPr/>
        </p:nvSpPr>
        <p:spPr>
          <a:xfrm>
            <a:off x="457200" y="2606040"/>
            <a:ext cx="5486400" cy="365760"/>
          </a:xfrm>
          <a:prstGeom prst="rect">
            <a:avLst/>
          </a:prstGeom>
          <a:noFill/>
        </p:spPr>
        <p:txBody>
          <a:bodyPr wrap="square" anchor="t" lIns="45720" rIns="45720">
            <a:spAutoFit/>
          </a:bodyPr>
          <a:lstStyle/>
          <a:p>
            <a:pPr algn="ctr"/>
            <a:r>
              <a:rPr sz="1400" b="0" i="1">
                <a:solidFill>
                  <a:srgbClr val="555555"/>
                </a:solidFill>
                <a:latin typeface="Calibri"/>
              </a:rPr>
              <a:t>Prevent dissatisfaction</a:t>
            </a:r>
          </a:p>
        </p:txBody>
      </p:sp>
      <p:sp>
        <p:nvSpPr>
          <p:cNvPr id="7" name="TextBox 6"/>
          <p:cNvSpPr txBox="1"/>
          <p:nvPr/>
        </p:nvSpPr>
        <p:spPr>
          <a:xfrm>
            <a:off x="914400" y="3108960"/>
            <a:ext cx="4572000" cy="2743200"/>
          </a:xfrm>
          <a:prstGeom prst="rect">
            <a:avLst/>
          </a:prstGeom>
          <a:noFill/>
        </p:spPr>
        <p:txBody>
          <a:bodyPr wrap="square" lIns="45720" rIns="45720">
            <a:spAutoFit/>
          </a:bodyPr>
          <a:lstStyle/>
          <a:p>
            <a:pPr>
              <a:lnSpc>
                <a:spcPct val="140000"/>
              </a:lnSpc>
              <a:spcAft>
                <a:spcPts val="400"/>
              </a:spcAft>
            </a:pPr>
            <a:r>
              <a:rPr sz="1700" b="0" i="0">
                <a:solidFill>
                  <a:srgbClr val="222222"/>
                </a:solidFill>
                <a:latin typeface="Calibri"/>
              </a:rPr>
              <a:t>•  Pay</a:t>
            </a:r>
          </a:p>
          <a:p>
            <a:pPr>
              <a:lnSpc>
                <a:spcPct val="140000"/>
              </a:lnSpc>
              <a:spcAft>
                <a:spcPts val="400"/>
              </a:spcAft>
            </a:pPr>
            <a:r>
              <a:rPr sz="1700" b="0" i="0">
                <a:solidFill>
                  <a:srgbClr val="222222"/>
                </a:solidFill>
                <a:latin typeface="Calibri"/>
              </a:rPr>
              <a:t>•  Working conditions</a:t>
            </a:r>
          </a:p>
          <a:p>
            <a:pPr>
              <a:lnSpc>
                <a:spcPct val="140000"/>
              </a:lnSpc>
              <a:spcAft>
                <a:spcPts val="400"/>
              </a:spcAft>
            </a:pPr>
            <a:r>
              <a:rPr sz="1700" b="0" i="0">
                <a:solidFill>
                  <a:srgbClr val="222222"/>
                </a:solidFill>
                <a:latin typeface="Calibri"/>
              </a:rPr>
              <a:t>•  Job security</a:t>
            </a:r>
          </a:p>
          <a:p>
            <a:pPr>
              <a:lnSpc>
                <a:spcPct val="140000"/>
              </a:lnSpc>
              <a:spcAft>
                <a:spcPts val="400"/>
              </a:spcAft>
            </a:pPr>
            <a:r>
              <a:rPr sz="1700" b="0" i="0">
                <a:solidFill>
                  <a:srgbClr val="222222"/>
                </a:solidFill>
                <a:latin typeface="Calibri"/>
              </a:rPr>
              <a:t>•  Supervision quality</a:t>
            </a:r>
          </a:p>
          <a:p>
            <a:pPr>
              <a:lnSpc>
                <a:spcPct val="140000"/>
              </a:lnSpc>
              <a:spcAft>
                <a:spcPts val="400"/>
              </a:spcAft>
            </a:pPr>
            <a:r>
              <a:rPr sz="1700" b="0" i="0">
                <a:solidFill>
                  <a:srgbClr val="222222"/>
                </a:solidFill>
                <a:latin typeface="Calibri"/>
              </a:rPr>
              <a:t>•  Company policies</a:t>
            </a:r>
          </a:p>
        </p:txBody>
      </p:sp>
      <p:sp>
        <p:nvSpPr>
          <p:cNvPr id="8" name="Rectangle 7"/>
          <p:cNvSpPr/>
          <p:nvPr/>
        </p:nvSpPr>
        <p:spPr>
          <a:xfrm>
            <a:off x="6172200" y="1828800"/>
            <a:ext cx="5486400" cy="6400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828800"/>
            <a:ext cx="5486400" cy="640080"/>
          </a:xfrm>
          <a:prstGeom prst="rect">
            <a:avLst/>
          </a:prstGeom>
          <a:noFill/>
        </p:spPr>
        <p:txBody>
          <a:bodyPr wrap="square" anchor="ctr" lIns="45720" rIns="45720">
            <a:spAutoFit/>
          </a:bodyPr>
          <a:lstStyle/>
          <a:p>
            <a:pPr algn="ctr"/>
            <a:r>
              <a:rPr sz="2000" b="1" i="0">
                <a:solidFill>
                  <a:srgbClr val="FFFFFF"/>
                </a:solidFill>
                <a:latin typeface="Calibri"/>
              </a:rPr>
              <a:t>Motivators</a:t>
            </a:r>
          </a:p>
        </p:txBody>
      </p:sp>
      <p:sp>
        <p:nvSpPr>
          <p:cNvPr id="10" name="TextBox 9"/>
          <p:cNvSpPr txBox="1"/>
          <p:nvPr/>
        </p:nvSpPr>
        <p:spPr>
          <a:xfrm>
            <a:off x="6172200" y="2606040"/>
            <a:ext cx="5486400" cy="365760"/>
          </a:xfrm>
          <a:prstGeom prst="rect">
            <a:avLst/>
          </a:prstGeom>
          <a:noFill/>
        </p:spPr>
        <p:txBody>
          <a:bodyPr wrap="square" anchor="t" lIns="45720" rIns="45720">
            <a:spAutoFit/>
          </a:bodyPr>
          <a:lstStyle/>
          <a:p>
            <a:pPr algn="ctr"/>
            <a:r>
              <a:rPr sz="1400" b="0" i="1">
                <a:solidFill>
                  <a:srgbClr val="555555"/>
                </a:solidFill>
                <a:latin typeface="Calibri"/>
              </a:rPr>
              <a:t>Drive satisfaction</a:t>
            </a:r>
          </a:p>
        </p:txBody>
      </p:sp>
      <p:sp>
        <p:nvSpPr>
          <p:cNvPr id="11" name="TextBox 10"/>
          <p:cNvSpPr txBox="1"/>
          <p:nvPr/>
        </p:nvSpPr>
        <p:spPr>
          <a:xfrm>
            <a:off x="6629400" y="3108960"/>
            <a:ext cx="4572000" cy="2743200"/>
          </a:xfrm>
          <a:prstGeom prst="rect">
            <a:avLst/>
          </a:prstGeom>
          <a:noFill/>
        </p:spPr>
        <p:txBody>
          <a:bodyPr wrap="square" lIns="45720" rIns="45720">
            <a:spAutoFit/>
          </a:bodyPr>
          <a:lstStyle/>
          <a:p>
            <a:pPr>
              <a:lnSpc>
                <a:spcPct val="140000"/>
              </a:lnSpc>
              <a:spcAft>
                <a:spcPts val="400"/>
              </a:spcAft>
            </a:pPr>
            <a:r>
              <a:rPr sz="1700" b="0" i="0">
                <a:solidFill>
                  <a:srgbClr val="222222"/>
                </a:solidFill>
                <a:latin typeface="Calibri"/>
              </a:rPr>
              <a:t>•  Achievement</a:t>
            </a:r>
          </a:p>
          <a:p>
            <a:pPr>
              <a:lnSpc>
                <a:spcPct val="140000"/>
              </a:lnSpc>
              <a:spcAft>
                <a:spcPts val="400"/>
              </a:spcAft>
            </a:pPr>
            <a:r>
              <a:rPr sz="1700" b="0" i="0">
                <a:solidFill>
                  <a:srgbClr val="222222"/>
                </a:solidFill>
                <a:latin typeface="Calibri"/>
              </a:rPr>
              <a:t>•  Recognition</a:t>
            </a:r>
          </a:p>
          <a:p>
            <a:pPr>
              <a:lnSpc>
                <a:spcPct val="140000"/>
              </a:lnSpc>
              <a:spcAft>
                <a:spcPts val="400"/>
              </a:spcAft>
            </a:pPr>
            <a:r>
              <a:rPr sz="1700" b="0" i="0">
                <a:solidFill>
                  <a:srgbClr val="222222"/>
                </a:solidFill>
                <a:latin typeface="Calibri"/>
              </a:rPr>
              <a:t>•  The work itself</a:t>
            </a:r>
          </a:p>
          <a:p>
            <a:pPr>
              <a:lnSpc>
                <a:spcPct val="140000"/>
              </a:lnSpc>
              <a:spcAft>
                <a:spcPts val="400"/>
              </a:spcAft>
            </a:pPr>
            <a:r>
              <a:rPr sz="1700" b="0" i="0">
                <a:solidFill>
                  <a:srgbClr val="222222"/>
                </a:solidFill>
                <a:latin typeface="Calibri"/>
              </a:rPr>
              <a:t>•  Responsibility</a:t>
            </a:r>
          </a:p>
          <a:p>
            <a:pPr>
              <a:lnSpc>
                <a:spcPct val="140000"/>
              </a:lnSpc>
              <a:spcAft>
                <a:spcPts val="400"/>
              </a:spcAft>
            </a:pPr>
            <a:r>
              <a:rPr sz="1700" b="0" i="0">
                <a:solidFill>
                  <a:srgbClr val="222222"/>
                </a:solidFill>
                <a:latin typeface="Calibri"/>
              </a:rPr>
              <a:t>•  Growth and advancement</a:t>
            </a:r>
          </a:p>
        </p:txBody>
      </p:sp>
      <p:sp>
        <p:nvSpPr>
          <p:cNvPr id="12" name="TextBox 11"/>
          <p:cNvSpPr txBox="1"/>
          <p:nvPr/>
        </p:nvSpPr>
        <p:spPr>
          <a:xfrm>
            <a:off x="685800" y="6126480"/>
            <a:ext cx="10817352" cy="548640"/>
          </a:xfrm>
          <a:prstGeom prst="rect">
            <a:avLst/>
          </a:prstGeom>
          <a:noFill/>
        </p:spPr>
        <p:txBody>
          <a:bodyPr wrap="square" anchor="t" lIns="45720" rIns="45720">
            <a:spAutoFit/>
          </a:bodyPr>
          <a:lstStyle/>
          <a:p>
            <a:pPr algn="ctr"/>
            <a:r>
              <a:rPr sz="1600" b="0" i="1">
                <a:solidFill>
                  <a:srgbClr val="555555"/>
                </a:solidFill>
                <a:latin typeface="Calibri"/>
              </a:rPr>
              <a:t>Hygiene factors are the floor. Motivators are what produce engagement. Both have to be in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600" b="1" i="0">
                <a:solidFill>
                  <a:srgbClr val="2C3E50"/>
                </a:solidFill>
                <a:latin typeface="Calibri"/>
              </a:rPr>
              <a:t>Job Satisfaction Comparison</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91640"/>
            <a:ext cx="5486400" cy="548640"/>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91640"/>
            <a:ext cx="5486400" cy="548640"/>
          </a:xfrm>
          <a:prstGeom prst="rect">
            <a:avLst/>
          </a:prstGeom>
          <a:noFill/>
        </p:spPr>
        <p:txBody>
          <a:bodyPr wrap="square" anchor="ctr" lIns="45720" rIns="45720">
            <a:spAutoFit/>
          </a:bodyPr>
          <a:lstStyle/>
          <a:p>
            <a:pPr algn="ctr"/>
            <a:r>
              <a:rPr sz="2000" b="1" i="0">
                <a:solidFill>
                  <a:srgbClr val="FFFFFF"/>
                </a:solidFill>
                <a:latin typeface="Calibri"/>
              </a:rPr>
              <a:t>Chick-fil-A: both factors met</a:t>
            </a:r>
          </a:p>
        </p:txBody>
      </p:sp>
      <p:sp>
        <p:nvSpPr>
          <p:cNvPr id="6" name="TextBox 5"/>
          <p:cNvSpPr txBox="1"/>
          <p:nvPr/>
        </p:nvSpPr>
        <p:spPr>
          <a:xfrm>
            <a:off x="457200" y="2468880"/>
            <a:ext cx="5486400" cy="411480"/>
          </a:xfrm>
          <a:prstGeom prst="rect">
            <a:avLst/>
          </a:prstGeom>
          <a:noFill/>
        </p:spPr>
        <p:txBody>
          <a:bodyPr wrap="square" anchor="t" lIns="45720" rIns="45720">
            <a:spAutoFit/>
          </a:bodyPr>
          <a:lstStyle/>
          <a:p>
            <a:pPr algn="l"/>
            <a:r>
              <a:rPr sz="1800" b="1" i="0">
                <a:solidFill>
                  <a:srgbClr val="E51636"/>
                </a:solidFill>
                <a:latin typeface="Calibri"/>
              </a:rPr>
              <a:t>Hygiene</a:t>
            </a:r>
          </a:p>
        </p:txBody>
      </p:sp>
      <p:sp>
        <p:nvSpPr>
          <p:cNvPr id="7" name="TextBox 6"/>
          <p:cNvSpPr txBox="1"/>
          <p:nvPr/>
        </p:nvSpPr>
        <p:spPr>
          <a:xfrm>
            <a:off x="457200" y="2926080"/>
            <a:ext cx="5486400" cy="1280160"/>
          </a:xfrm>
          <a:prstGeom prst="rect">
            <a:avLst/>
          </a:prstGeom>
          <a:noFill/>
        </p:spPr>
        <p:txBody>
          <a:bodyPr wrap="square" anchor="t" lIns="45720" rIns="45720">
            <a:spAutoFit/>
          </a:bodyPr>
          <a:lstStyle/>
          <a:p>
            <a:pPr algn="l"/>
            <a:r>
              <a:rPr sz="1500" b="0" i="0">
                <a:solidFill>
                  <a:srgbClr val="222222"/>
                </a:solidFill>
                <a:latin typeface="Calibri"/>
              </a:rPr>
              <a:t>Competitive QSR pay, well-equipped kitchens, predictable scheduling, guaranteed Sundays off.</a:t>
            </a:r>
          </a:p>
        </p:txBody>
      </p:sp>
      <p:sp>
        <p:nvSpPr>
          <p:cNvPr id="8" name="TextBox 7"/>
          <p:cNvSpPr txBox="1"/>
          <p:nvPr/>
        </p:nvSpPr>
        <p:spPr>
          <a:xfrm>
            <a:off x="457200" y="4297680"/>
            <a:ext cx="5486400" cy="411480"/>
          </a:xfrm>
          <a:prstGeom prst="rect">
            <a:avLst/>
          </a:prstGeom>
          <a:noFill/>
        </p:spPr>
        <p:txBody>
          <a:bodyPr wrap="square" anchor="t" lIns="45720" rIns="45720">
            <a:spAutoFit/>
          </a:bodyPr>
          <a:lstStyle/>
          <a:p>
            <a:pPr algn="l"/>
            <a:r>
              <a:rPr sz="1800" b="1" i="0">
                <a:solidFill>
                  <a:srgbClr val="E51636"/>
                </a:solidFill>
                <a:latin typeface="Calibri"/>
              </a:rPr>
              <a:t>Motivators</a:t>
            </a:r>
          </a:p>
        </p:txBody>
      </p:sp>
      <p:sp>
        <p:nvSpPr>
          <p:cNvPr id="9" name="TextBox 8"/>
          <p:cNvSpPr txBox="1"/>
          <p:nvPr/>
        </p:nvSpPr>
        <p:spPr>
          <a:xfrm>
            <a:off x="457200" y="4754880"/>
            <a:ext cx="5486400" cy="1280160"/>
          </a:xfrm>
          <a:prstGeom prst="rect">
            <a:avLst/>
          </a:prstGeom>
          <a:noFill/>
        </p:spPr>
        <p:txBody>
          <a:bodyPr wrap="square" anchor="t" lIns="45720" rIns="45720">
            <a:spAutoFit/>
          </a:bodyPr>
          <a:lstStyle/>
          <a:p>
            <a:pPr algn="l"/>
            <a:r>
              <a:rPr sz="1500" b="0" i="0">
                <a:solidFill>
                  <a:srgbClr val="222222"/>
                </a:solidFill>
                <a:latin typeface="Calibri"/>
              </a:rPr>
              <a:t>Remarkable Futures program (over $162 million in scholarships since 1973), same-shift recognition, visible promotion path.</a:t>
            </a:r>
          </a:p>
        </p:txBody>
      </p:sp>
      <p:sp>
        <p:nvSpPr>
          <p:cNvPr id="10" name="Rectangle 9"/>
          <p:cNvSpPr/>
          <p:nvPr/>
        </p:nvSpPr>
        <p:spPr>
          <a:xfrm>
            <a:off x="6172200" y="1691640"/>
            <a:ext cx="5486400" cy="548640"/>
          </a:xfrm>
          <a:prstGeom prst="rect">
            <a:avLst/>
          </a:prstGeom>
          <a:solidFill>
            <a:srgbClr val="F15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691640"/>
            <a:ext cx="5486400" cy="548640"/>
          </a:xfrm>
          <a:prstGeom prst="rect">
            <a:avLst/>
          </a:prstGeom>
          <a:noFill/>
        </p:spPr>
        <p:txBody>
          <a:bodyPr wrap="square" anchor="ctr" lIns="45720" rIns="45720">
            <a:spAutoFit/>
          </a:bodyPr>
          <a:lstStyle/>
          <a:p>
            <a:pPr algn="ctr"/>
            <a:r>
              <a:rPr sz="2000" b="1" i="0">
                <a:solidFill>
                  <a:srgbClr val="FFFFFF"/>
                </a:solidFill>
                <a:latin typeface="Calibri"/>
              </a:rPr>
              <a:t>Popeyes: both factors unmet</a:t>
            </a:r>
          </a:p>
        </p:txBody>
      </p:sp>
      <p:sp>
        <p:nvSpPr>
          <p:cNvPr id="12" name="TextBox 11"/>
          <p:cNvSpPr txBox="1"/>
          <p:nvPr/>
        </p:nvSpPr>
        <p:spPr>
          <a:xfrm>
            <a:off x="6172200" y="2468880"/>
            <a:ext cx="5486400" cy="411480"/>
          </a:xfrm>
          <a:prstGeom prst="rect">
            <a:avLst/>
          </a:prstGeom>
          <a:noFill/>
        </p:spPr>
        <p:txBody>
          <a:bodyPr wrap="square" anchor="t" lIns="45720" rIns="45720">
            <a:spAutoFit/>
          </a:bodyPr>
          <a:lstStyle/>
          <a:p>
            <a:pPr algn="l"/>
            <a:r>
              <a:rPr sz="1800" b="1" i="0">
                <a:solidFill>
                  <a:srgbClr val="F15A22"/>
                </a:solidFill>
                <a:latin typeface="Calibri"/>
              </a:rPr>
              <a:t>Hygiene</a:t>
            </a:r>
          </a:p>
        </p:txBody>
      </p:sp>
      <p:sp>
        <p:nvSpPr>
          <p:cNvPr id="13" name="TextBox 12"/>
          <p:cNvSpPr txBox="1"/>
          <p:nvPr/>
        </p:nvSpPr>
        <p:spPr>
          <a:xfrm>
            <a:off x="6172200" y="2926080"/>
            <a:ext cx="5486400" cy="1280160"/>
          </a:xfrm>
          <a:prstGeom prst="rect">
            <a:avLst/>
          </a:prstGeom>
          <a:noFill/>
        </p:spPr>
        <p:txBody>
          <a:bodyPr wrap="square" anchor="t" lIns="45720" rIns="45720">
            <a:spAutoFit/>
          </a:bodyPr>
          <a:lstStyle/>
          <a:p>
            <a:pPr algn="l"/>
            <a:r>
              <a:rPr sz="1500" b="0" i="0">
                <a:solidFill>
                  <a:srgbClr val="222222"/>
                </a:solidFill>
                <a:latin typeface="Calibri"/>
              </a:rPr>
              <a:t>Wages near the industry minimum, chronic understaffing, inconsistent scheduling.</a:t>
            </a:r>
          </a:p>
        </p:txBody>
      </p:sp>
      <p:sp>
        <p:nvSpPr>
          <p:cNvPr id="14" name="TextBox 13"/>
          <p:cNvSpPr txBox="1"/>
          <p:nvPr/>
        </p:nvSpPr>
        <p:spPr>
          <a:xfrm>
            <a:off x="6172200" y="4297680"/>
            <a:ext cx="5486400" cy="411480"/>
          </a:xfrm>
          <a:prstGeom prst="rect">
            <a:avLst/>
          </a:prstGeom>
          <a:noFill/>
        </p:spPr>
        <p:txBody>
          <a:bodyPr wrap="square" anchor="t" lIns="45720" rIns="45720">
            <a:spAutoFit/>
          </a:bodyPr>
          <a:lstStyle/>
          <a:p>
            <a:pPr algn="l"/>
            <a:r>
              <a:rPr sz="1800" b="1" i="0">
                <a:solidFill>
                  <a:srgbClr val="F15A22"/>
                </a:solidFill>
                <a:latin typeface="Calibri"/>
              </a:rPr>
              <a:t>Motivators</a:t>
            </a:r>
          </a:p>
        </p:txBody>
      </p:sp>
      <p:sp>
        <p:nvSpPr>
          <p:cNvPr id="15" name="TextBox 14"/>
          <p:cNvSpPr txBox="1"/>
          <p:nvPr/>
        </p:nvSpPr>
        <p:spPr>
          <a:xfrm>
            <a:off x="6172200" y="4754880"/>
            <a:ext cx="5486400" cy="1280160"/>
          </a:xfrm>
          <a:prstGeom prst="rect">
            <a:avLst/>
          </a:prstGeom>
          <a:noFill/>
        </p:spPr>
        <p:txBody>
          <a:bodyPr wrap="square" anchor="t" lIns="45720" rIns="45720">
            <a:spAutoFit/>
          </a:bodyPr>
          <a:lstStyle/>
          <a:p>
            <a:pPr algn="l"/>
            <a:r>
              <a:rPr sz="1500" b="0" i="0">
                <a:solidFill>
                  <a:srgbClr val="222222"/>
                </a:solidFill>
                <a:latin typeface="Calibri"/>
              </a:rPr>
              <a:t>Limited growth at most franchise stores, minimal recognition from off-site management, replaceability mindset reinforced by turnover.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600" b="1" i="0">
                <a:solidFill>
                  <a:srgbClr val="2C3E50"/>
                </a:solidFill>
                <a:latin typeface="Calibri"/>
              </a:rPr>
              <a:t>How the Three Components Connect</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83767" y="1828800"/>
            <a:ext cx="3108960" cy="15544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3767" y="2011680"/>
            <a:ext cx="3108960" cy="502920"/>
          </a:xfrm>
          <a:prstGeom prst="rect">
            <a:avLst/>
          </a:prstGeom>
          <a:noFill/>
        </p:spPr>
        <p:txBody>
          <a:bodyPr wrap="square" anchor="ctr" lIns="45720" rIns="45720">
            <a:spAutoFit/>
          </a:bodyPr>
          <a:lstStyle/>
          <a:p>
            <a:pPr algn="ctr"/>
            <a:r>
              <a:rPr sz="2200" b="1" i="0">
                <a:solidFill>
                  <a:srgbClr val="FFFFFF"/>
                </a:solidFill>
                <a:latin typeface="Calibri"/>
              </a:rPr>
              <a:t>Culture</a:t>
            </a:r>
          </a:p>
        </p:txBody>
      </p:sp>
      <p:sp>
        <p:nvSpPr>
          <p:cNvPr id="6" name="TextBox 5"/>
          <p:cNvSpPr txBox="1"/>
          <p:nvPr/>
        </p:nvSpPr>
        <p:spPr>
          <a:xfrm>
            <a:off x="883767" y="2606040"/>
            <a:ext cx="3108960" cy="640080"/>
          </a:xfrm>
          <a:prstGeom prst="rect">
            <a:avLst/>
          </a:prstGeom>
          <a:noFill/>
        </p:spPr>
        <p:txBody>
          <a:bodyPr wrap="square" anchor="ctr" lIns="45720" rIns="45720">
            <a:spAutoFit/>
          </a:bodyPr>
          <a:lstStyle/>
          <a:p>
            <a:pPr algn="ctr"/>
            <a:r>
              <a:rPr sz="1400" b="0" i="1">
                <a:solidFill>
                  <a:srgbClr val="ECF0F1"/>
                </a:solidFill>
                <a:latin typeface="Calibri"/>
              </a:rPr>
              <a:t>Schein. Sets the environment.</a:t>
            </a:r>
          </a:p>
        </p:txBody>
      </p:sp>
      <p:sp>
        <p:nvSpPr>
          <p:cNvPr id="7" name="Right Arrow 6"/>
          <p:cNvSpPr/>
          <p:nvPr/>
        </p:nvSpPr>
        <p:spPr>
          <a:xfrm>
            <a:off x="4038447" y="2423160"/>
            <a:ext cx="457200" cy="36576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41367" y="1828800"/>
            <a:ext cx="3108960" cy="1554480"/>
          </a:xfrm>
          <a:prstGeom prst="rect">
            <a:avLst/>
          </a:prstGeom>
          <a:solidFill>
            <a:srgbClr val="40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1367" y="2011680"/>
            <a:ext cx="3108960" cy="502920"/>
          </a:xfrm>
          <a:prstGeom prst="rect">
            <a:avLst/>
          </a:prstGeom>
          <a:noFill/>
        </p:spPr>
        <p:txBody>
          <a:bodyPr wrap="square" anchor="ctr" lIns="45720" rIns="45720">
            <a:spAutoFit/>
          </a:bodyPr>
          <a:lstStyle/>
          <a:p>
            <a:pPr algn="ctr"/>
            <a:r>
              <a:rPr sz="2200" b="1" i="0">
                <a:solidFill>
                  <a:srgbClr val="FFFFFF"/>
                </a:solidFill>
                <a:latin typeface="Calibri"/>
              </a:rPr>
              <a:t>Leadership</a:t>
            </a:r>
          </a:p>
        </p:txBody>
      </p:sp>
      <p:sp>
        <p:nvSpPr>
          <p:cNvPr id="10" name="TextBox 9"/>
          <p:cNvSpPr txBox="1"/>
          <p:nvPr/>
        </p:nvSpPr>
        <p:spPr>
          <a:xfrm>
            <a:off x="4541367" y="2606040"/>
            <a:ext cx="3108960" cy="640080"/>
          </a:xfrm>
          <a:prstGeom prst="rect">
            <a:avLst/>
          </a:prstGeom>
          <a:noFill/>
        </p:spPr>
        <p:txBody>
          <a:bodyPr wrap="square" anchor="ctr" lIns="45720" rIns="45720">
            <a:spAutoFit/>
          </a:bodyPr>
          <a:lstStyle/>
          <a:p>
            <a:pPr algn="ctr"/>
            <a:r>
              <a:rPr sz="1400" b="0" i="1">
                <a:solidFill>
                  <a:srgbClr val="ECF0F1"/>
                </a:solidFill>
                <a:latin typeface="Calibri"/>
              </a:rPr>
              <a:t>Burns and Bass. Reinforces the environment.</a:t>
            </a:r>
          </a:p>
        </p:txBody>
      </p:sp>
      <p:sp>
        <p:nvSpPr>
          <p:cNvPr id="11" name="Right Arrow 10"/>
          <p:cNvSpPr/>
          <p:nvPr/>
        </p:nvSpPr>
        <p:spPr>
          <a:xfrm>
            <a:off x="7696047" y="2423160"/>
            <a:ext cx="457200" cy="36576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98967" y="1828800"/>
            <a:ext cx="3108960" cy="1554480"/>
          </a:xfrm>
          <a:prstGeom prst="rect">
            <a:avLst/>
          </a:prstGeom>
          <a:solidFill>
            <a:srgbClr val="557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8967" y="2011680"/>
            <a:ext cx="3108960" cy="502920"/>
          </a:xfrm>
          <a:prstGeom prst="rect">
            <a:avLst/>
          </a:prstGeom>
          <a:noFill/>
        </p:spPr>
        <p:txBody>
          <a:bodyPr wrap="square" anchor="ctr" lIns="45720" rIns="45720">
            <a:spAutoFit/>
          </a:bodyPr>
          <a:lstStyle/>
          <a:p>
            <a:pPr algn="ctr"/>
            <a:r>
              <a:rPr sz="2200" b="1" i="0">
                <a:solidFill>
                  <a:srgbClr val="FFFFFF"/>
                </a:solidFill>
                <a:latin typeface="Calibri"/>
              </a:rPr>
              <a:t>Satisfaction</a:t>
            </a:r>
          </a:p>
        </p:txBody>
      </p:sp>
      <p:sp>
        <p:nvSpPr>
          <p:cNvPr id="14" name="TextBox 13"/>
          <p:cNvSpPr txBox="1"/>
          <p:nvPr/>
        </p:nvSpPr>
        <p:spPr>
          <a:xfrm>
            <a:off x="8198967" y="2606040"/>
            <a:ext cx="3108960" cy="640080"/>
          </a:xfrm>
          <a:prstGeom prst="rect">
            <a:avLst/>
          </a:prstGeom>
          <a:noFill/>
        </p:spPr>
        <p:txBody>
          <a:bodyPr wrap="square" anchor="ctr" lIns="45720" rIns="45720">
            <a:spAutoFit/>
          </a:bodyPr>
          <a:lstStyle/>
          <a:p>
            <a:pPr algn="ctr"/>
            <a:r>
              <a:rPr sz="1400" b="0" i="1">
                <a:solidFill>
                  <a:srgbClr val="ECF0F1"/>
                </a:solidFill>
                <a:latin typeface="Calibri"/>
              </a:rPr>
              <a:t>Herzberg. Measures the outcome.</a:t>
            </a:r>
          </a:p>
        </p:txBody>
      </p:sp>
      <p:sp>
        <p:nvSpPr>
          <p:cNvPr id="15" name="Rectangle 14"/>
          <p:cNvSpPr/>
          <p:nvPr/>
        </p:nvSpPr>
        <p:spPr>
          <a:xfrm>
            <a:off x="457200" y="4114800"/>
            <a:ext cx="11274552" cy="914400"/>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60520"/>
            <a:ext cx="10972800" cy="365760"/>
          </a:xfrm>
          <a:prstGeom prst="rect">
            <a:avLst/>
          </a:prstGeom>
          <a:noFill/>
        </p:spPr>
        <p:txBody>
          <a:bodyPr wrap="square" anchor="t" lIns="45720" rIns="45720">
            <a:spAutoFit/>
          </a:bodyPr>
          <a:lstStyle/>
          <a:p>
            <a:pPr algn="l"/>
            <a:r>
              <a:rPr sz="1600" b="1" i="0">
                <a:solidFill>
                  <a:srgbClr val="FFFFFF"/>
                </a:solidFill>
                <a:latin typeface="Calibri"/>
              </a:rPr>
              <a:t>Chick-fil-A</a:t>
            </a:r>
          </a:p>
        </p:txBody>
      </p:sp>
      <p:sp>
        <p:nvSpPr>
          <p:cNvPr id="17" name="TextBox 16"/>
          <p:cNvSpPr txBox="1"/>
          <p:nvPr/>
        </p:nvSpPr>
        <p:spPr>
          <a:xfrm>
            <a:off x="640080" y="4480560"/>
            <a:ext cx="10972800" cy="502920"/>
          </a:xfrm>
          <a:prstGeom prst="rect">
            <a:avLst/>
          </a:prstGeom>
          <a:noFill/>
        </p:spPr>
        <p:txBody>
          <a:bodyPr wrap="square" anchor="t" lIns="45720" rIns="45720">
            <a:spAutoFit/>
          </a:bodyPr>
          <a:lstStyle/>
          <a:p>
            <a:pPr algn="l"/>
            <a:r>
              <a:rPr sz="1500" b="0" i="0">
                <a:solidFill>
                  <a:srgbClr val="FFFFFF"/>
                </a:solidFill>
                <a:latin typeface="Calibri"/>
              </a:rPr>
              <a:t>Single-Operator structure produces transformational leadership, sustains strong culture, satisfies both Herzberg factors.</a:t>
            </a:r>
          </a:p>
        </p:txBody>
      </p:sp>
      <p:sp>
        <p:nvSpPr>
          <p:cNvPr id="18" name="Rectangle 17"/>
          <p:cNvSpPr/>
          <p:nvPr/>
        </p:nvSpPr>
        <p:spPr>
          <a:xfrm>
            <a:off x="457200" y="5166360"/>
            <a:ext cx="11274552" cy="914400"/>
          </a:xfrm>
          <a:prstGeom prst="rect">
            <a:avLst/>
          </a:prstGeom>
          <a:solidFill>
            <a:srgbClr val="F15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12080"/>
            <a:ext cx="10972800" cy="365760"/>
          </a:xfrm>
          <a:prstGeom prst="rect">
            <a:avLst/>
          </a:prstGeom>
          <a:noFill/>
        </p:spPr>
        <p:txBody>
          <a:bodyPr wrap="square" anchor="t" lIns="45720" rIns="45720">
            <a:spAutoFit/>
          </a:bodyPr>
          <a:lstStyle/>
          <a:p>
            <a:pPr algn="l"/>
            <a:r>
              <a:rPr sz="1600" b="1" i="0">
                <a:solidFill>
                  <a:srgbClr val="FFFFFF"/>
                </a:solidFill>
                <a:latin typeface="Calibri"/>
              </a:rPr>
              <a:t>Popeyes</a:t>
            </a:r>
          </a:p>
        </p:txBody>
      </p:sp>
      <p:sp>
        <p:nvSpPr>
          <p:cNvPr id="20" name="TextBox 19"/>
          <p:cNvSpPr txBox="1"/>
          <p:nvPr/>
        </p:nvSpPr>
        <p:spPr>
          <a:xfrm>
            <a:off x="640080" y="5532120"/>
            <a:ext cx="10972800" cy="502920"/>
          </a:xfrm>
          <a:prstGeom prst="rect">
            <a:avLst/>
          </a:prstGeom>
          <a:noFill/>
        </p:spPr>
        <p:txBody>
          <a:bodyPr wrap="square" anchor="t" lIns="45720" rIns="45720">
            <a:spAutoFit/>
          </a:bodyPr>
          <a:lstStyle/>
          <a:p>
            <a:pPr algn="l"/>
            <a:r>
              <a:rPr sz="1500" b="0" i="0">
                <a:solidFill>
                  <a:srgbClr val="FFFFFF"/>
                </a:solidFill>
                <a:latin typeface="Calibri"/>
              </a:rPr>
              <a:t>Multi-unit franchise structure prevents transformational leadership, weakens culture, leaves both Herzberg factors unmet.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4000" b="1" i="0">
                <a:solidFill>
                  <a:srgbClr val="2C3E50"/>
                </a:solidFill>
                <a:latin typeface="Calibri"/>
              </a:rPr>
              <a:t>Takeaways</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1828800"/>
            <a:ext cx="548640" cy="548640"/>
          </a:xfrm>
          <a:prstGeom prst="ellipse">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548640" cy="548640"/>
          </a:xfrm>
          <a:prstGeom prst="rect">
            <a:avLst/>
          </a:prstGeom>
          <a:noFill/>
        </p:spPr>
        <p:txBody>
          <a:bodyPr wrap="square" anchor="ctr" lIns="45720" rIns="45720">
            <a:spAutoFit/>
          </a:bodyPr>
          <a:lstStyle/>
          <a:p>
            <a:pPr algn="ctr"/>
            <a:r>
              <a:rPr sz="2200" b="1" i="0">
                <a:solidFill>
                  <a:srgbClr val="FFFFFF"/>
                </a:solidFill>
                <a:latin typeface="Calibri"/>
              </a:rPr>
              <a:t>1</a:t>
            </a:r>
          </a:p>
        </p:txBody>
      </p:sp>
      <p:sp>
        <p:nvSpPr>
          <p:cNvPr id="6" name="TextBox 5"/>
          <p:cNvSpPr txBox="1"/>
          <p:nvPr/>
        </p:nvSpPr>
        <p:spPr>
          <a:xfrm>
            <a:off x="1417320" y="1828800"/>
            <a:ext cx="10058400" cy="868680"/>
          </a:xfrm>
          <a:prstGeom prst="rect">
            <a:avLst/>
          </a:prstGeom>
          <a:noFill/>
        </p:spPr>
        <p:txBody>
          <a:bodyPr wrap="square" anchor="ctr" lIns="45720" rIns="45720">
            <a:spAutoFit/>
          </a:bodyPr>
          <a:lstStyle/>
          <a:p>
            <a:pPr algn="l"/>
            <a:r>
              <a:rPr sz="1700" b="0" i="0">
                <a:solidFill>
                  <a:srgbClr val="222222"/>
                </a:solidFill>
                <a:latin typeface="Calibri"/>
              </a:rPr>
              <a:t>Structure matters more than slogans. The franchise contract decides who is in the store, and that decides almost everything else.</a:t>
            </a:r>
          </a:p>
        </p:txBody>
      </p:sp>
      <p:sp>
        <p:nvSpPr>
          <p:cNvPr id="7" name="Oval 6"/>
          <p:cNvSpPr/>
          <p:nvPr/>
        </p:nvSpPr>
        <p:spPr>
          <a:xfrm>
            <a:off x="685800" y="2788920"/>
            <a:ext cx="548640" cy="548640"/>
          </a:xfrm>
          <a:prstGeom prst="ellipse">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788920"/>
            <a:ext cx="548640" cy="548640"/>
          </a:xfrm>
          <a:prstGeom prst="rect">
            <a:avLst/>
          </a:prstGeom>
          <a:noFill/>
        </p:spPr>
        <p:txBody>
          <a:bodyPr wrap="square" anchor="ctr" lIns="45720" rIns="45720">
            <a:spAutoFit/>
          </a:bodyPr>
          <a:lstStyle/>
          <a:p>
            <a:pPr algn="ctr"/>
            <a:r>
              <a:rPr sz="2200" b="1" i="0">
                <a:solidFill>
                  <a:srgbClr val="FFFFFF"/>
                </a:solidFill>
                <a:latin typeface="Calibri"/>
              </a:rPr>
              <a:t>2</a:t>
            </a:r>
          </a:p>
        </p:txBody>
      </p:sp>
      <p:sp>
        <p:nvSpPr>
          <p:cNvPr id="9" name="TextBox 8"/>
          <p:cNvSpPr txBox="1"/>
          <p:nvPr/>
        </p:nvSpPr>
        <p:spPr>
          <a:xfrm>
            <a:off x="1417320" y="2788920"/>
            <a:ext cx="10058400" cy="868680"/>
          </a:xfrm>
          <a:prstGeom prst="rect">
            <a:avLst/>
          </a:prstGeom>
          <a:noFill/>
        </p:spPr>
        <p:txBody>
          <a:bodyPr wrap="square" anchor="ctr" lIns="45720" rIns="45720">
            <a:spAutoFit/>
          </a:bodyPr>
          <a:lstStyle/>
          <a:p>
            <a:pPr algn="l"/>
            <a:r>
              <a:rPr sz="1700" b="0" i="0">
                <a:solidFill>
                  <a:srgbClr val="222222"/>
                </a:solidFill>
                <a:latin typeface="Calibri"/>
              </a:rPr>
              <a:t>Culture only holds when leaders reinforce it daily. A mission statement on a wall does not change behavior at the counter.</a:t>
            </a:r>
          </a:p>
        </p:txBody>
      </p:sp>
      <p:sp>
        <p:nvSpPr>
          <p:cNvPr id="10" name="Oval 9"/>
          <p:cNvSpPr/>
          <p:nvPr/>
        </p:nvSpPr>
        <p:spPr>
          <a:xfrm>
            <a:off x="685800" y="3749039"/>
            <a:ext cx="548640" cy="548640"/>
          </a:xfrm>
          <a:prstGeom prst="ellipse">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749039"/>
            <a:ext cx="548640" cy="548640"/>
          </a:xfrm>
          <a:prstGeom prst="rect">
            <a:avLst/>
          </a:prstGeom>
          <a:noFill/>
        </p:spPr>
        <p:txBody>
          <a:bodyPr wrap="square" anchor="ctr" lIns="45720" rIns="45720">
            <a:spAutoFit/>
          </a:bodyPr>
          <a:lstStyle/>
          <a:p>
            <a:pPr algn="ctr"/>
            <a:r>
              <a:rPr sz="2200" b="1" i="0">
                <a:solidFill>
                  <a:srgbClr val="FFFFFF"/>
                </a:solidFill>
                <a:latin typeface="Calibri"/>
              </a:rPr>
              <a:t>3</a:t>
            </a:r>
          </a:p>
        </p:txBody>
      </p:sp>
      <p:sp>
        <p:nvSpPr>
          <p:cNvPr id="12" name="TextBox 11"/>
          <p:cNvSpPr txBox="1"/>
          <p:nvPr/>
        </p:nvSpPr>
        <p:spPr>
          <a:xfrm>
            <a:off x="1417320" y="3749039"/>
            <a:ext cx="10058400" cy="868680"/>
          </a:xfrm>
          <a:prstGeom prst="rect">
            <a:avLst/>
          </a:prstGeom>
          <a:noFill/>
        </p:spPr>
        <p:txBody>
          <a:bodyPr wrap="square" anchor="ctr" lIns="45720" rIns="45720">
            <a:spAutoFit/>
          </a:bodyPr>
          <a:lstStyle/>
          <a:p>
            <a:pPr algn="l"/>
            <a:r>
              <a:rPr sz="1700" b="0" i="0">
                <a:solidFill>
                  <a:srgbClr val="222222"/>
                </a:solidFill>
                <a:latin typeface="Calibri"/>
              </a:rPr>
              <a:t>Hygiene factors are the floor. Motivators like growth, recognition, and a real promotion path are what get effort above the floor.</a:t>
            </a:r>
          </a:p>
        </p:txBody>
      </p:sp>
      <p:sp>
        <p:nvSpPr>
          <p:cNvPr id="13" name="Rectangle 12"/>
          <p:cNvSpPr/>
          <p:nvPr/>
        </p:nvSpPr>
        <p:spPr>
          <a:xfrm>
            <a:off x="457200" y="5029200"/>
            <a:ext cx="11274552" cy="12801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257800"/>
            <a:ext cx="10972800" cy="777240"/>
          </a:xfrm>
          <a:prstGeom prst="rect">
            <a:avLst/>
          </a:prstGeom>
          <a:noFill/>
        </p:spPr>
        <p:txBody>
          <a:bodyPr wrap="square" anchor="ctr" lIns="45720" rIns="45720">
            <a:spAutoFit/>
          </a:bodyPr>
          <a:lstStyle/>
          <a:p>
            <a:pPr algn="ctr"/>
            <a:r>
              <a:rPr sz="2000" b="0" i="1">
                <a:solidFill>
                  <a:srgbClr val="FFFFFF"/>
                </a:solidFill>
                <a:latin typeface="Calibri"/>
              </a:rPr>
              <a:t>Two competitors, same labor pool, different employees. The structure around the worker is doing the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817352" cy="822960"/>
          </a:xfrm>
          <a:prstGeom prst="rect">
            <a:avLst/>
          </a:prstGeom>
          <a:noFill/>
        </p:spPr>
        <p:txBody>
          <a:bodyPr wrap="square" anchor="t" lIns="45720" rIns="45720">
            <a:spAutoFit/>
          </a:bodyPr>
          <a:lstStyle/>
          <a:p>
            <a:pPr algn="l"/>
            <a:r>
              <a:rPr sz="3600" b="1" i="0">
                <a:solidFill>
                  <a:srgbClr val="2C3E50"/>
                </a:solidFill>
                <a:latin typeface="Calibri"/>
              </a:rPr>
              <a:t>References</a:t>
            </a:r>
          </a:p>
        </p:txBody>
      </p:sp>
      <p:sp>
        <p:nvSpPr>
          <p:cNvPr id="3" name="Rectangle 2"/>
          <p:cNvSpPr/>
          <p:nvPr/>
        </p:nvSpPr>
        <p:spPr>
          <a:xfrm>
            <a:off x="685800" y="1280160"/>
            <a:ext cx="2286000" cy="54864"/>
          </a:xfrm>
          <a:prstGeom prst="rect">
            <a:avLst/>
          </a:prstGeom>
          <a:solidFill>
            <a:srgbClr val="E5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0"/>
            <a:ext cx="10817352" cy="4754880"/>
          </a:xfrm>
          <a:prstGeom prst="rect">
            <a:avLst/>
          </a:prstGeom>
          <a:noFill/>
        </p:spPr>
        <p:txBody>
          <a:bodyPr wrap="square">
            <a:spAutoFit/>
          </a:bodyPr>
          <a:lstStyle/>
          <a:p>
            <a:pPr>
              <a:lnSpc>
                <a:spcPct val="120000"/>
              </a:lnSpc>
              <a:spcAft>
                <a:spcPts val="600"/>
              </a:spcAft>
            </a:pPr>
            <a:r>
              <a:rPr sz="1400" i="0">
                <a:solidFill>
                  <a:srgbClr val="222222"/>
                </a:solidFill>
                <a:latin typeface="Calibri"/>
              </a:rPr>
              <a:t>ACSI. (2023). </a:t>
            </a:r>
            <a:r>
              <a:rPr sz="1400" i="1">
                <a:solidFill>
                  <a:srgbClr val="222222"/>
                </a:solidFill>
                <a:latin typeface="Calibri"/>
              </a:rPr>
              <a:t>Restaurant study 2022-2023</a:t>
            </a:r>
            <a:r>
              <a:rPr sz="1400" i="0">
                <a:solidFill>
                  <a:srgbClr val="222222"/>
                </a:solidFill>
                <a:latin typeface="Calibri"/>
              </a:rPr>
              <a:t>. American Customer Satisfaction Index. https://www.theacsi.org</a:t>
            </a:r>
          </a:p>
          <a:p>
            <a:pPr>
              <a:lnSpc>
                <a:spcPct val="120000"/>
              </a:lnSpc>
              <a:spcAft>
                <a:spcPts val="600"/>
              </a:spcAft>
            </a:pPr>
            <a:r>
              <a:rPr sz="1400" i="0">
                <a:solidFill>
                  <a:srgbClr val="222222"/>
                </a:solidFill>
                <a:latin typeface="Calibri"/>
              </a:rPr>
              <a:t>Bachelder, C. (2015). </a:t>
            </a:r>
            <a:r>
              <a:rPr sz="1400" i="1">
                <a:solidFill>
                  <a:srgbClr val="222222"/>
                </a:solidFill>
                <a:latin typeface="Calibri"/>
              </a:rPr>
              <a:t>Dare to serve: How to drive superior results by serving others</a:t>
            </a:r>
            <a:r>
              <a:rPr sz="1400" i="0">
                <a:solidFill>
                  <a:srgbClr val="222222"/>
                </a:solidFill>
                <a:latin typeface="Calibri"/>
              </a:rPr>
              <a:t>. Berrett-Koehler.</a:t>
            </a:r>
          </a:p>
          <a:p>
            <a:pPr>
              <a:lnSpc>
                <a:spcPct val="120000"/>
              </a:lnSpc>
              <a:spcAft>
                <a:spcPts val="600"/>
              </a:spcAft>
            </a:pPr>
            <a:r>
              <a:rPr sz="1400" i="0">
                <a:solidFill>
                  <a:srgbClr val="222222"/>
                </a:solidFill>
                <a:latin typeface="Calibri"/>
              </a:rPr>
              <a:t>Bass, B. M. (1985). </a:t>
            </a:r>
            <a:r>
              <a:rPr sz="1400" i="1">
                <a:solidFill>
                  <a:srgbClr val="222222"/>
                </a:solidFill>
                <a:latin typeface="Calibri"/>
              </a:rPr>
              <a:t>Leadership and performance beyond expectations</a:t>
            </a:r>
            <a:r>
              <a:rPr sz="1400" i="0">
                <a:solidFill>
                  <a:srgbClr val="222222"/>
                </a:solidFill>
                <a:latin typeface="Calibri"/>
              </a:rPr>
              <a:t>. Free Press.</a:t>
            </a:r>
          </a:p>
          <a:p>
            <a:pPr>
              <a:lnSpc>
                <a:spcPct val="120000"/>
              </a:lnSpc>
              <a:spcAft>
                <a:spcPts val="600"/>
              </a:spcAft>
            </a:pPr>
            <a:r>
              <a:rPr sz="1400" i="0">
                <a:solidFill>
                  <a:srgbClr val="222222"/>
                </a:solidFill>
                <a:latin typeface="Calibri"/>
              </a:rPr>
              <a:t>Burns, J. M. (1978). </a:t>
            </a:r>
            <a:r>
              <a:rPr sz="1400" i="1">
                <a:solidFill>
                  <a:srgbClr val="222222"/>
                </a:solidFill>
                <a:latin typeface="Calibri"/>
              </a:rPr>
              <a:t>Leadership</a:t>
            </a:r>
            <a:r>
              <a:rPr sz="1400" i="0">
                <a:solidFill>
                  <a:srgbClr val="222222"/>
                </a:solidFill>
                <a:latin typeface="Calibri"/>
              </a:rPr>
              <a:t>. Harper &amp; Row.</a:t>
            </a:r>
          </a:p>
          <a:p>
            <a:pPr>
              <a:lnSpc>
                <a:spcPct val="120000"/>
              </a:lnSpc>
              <a:spcAft>
                <a:spcPts val="600"/>
              </a:spcAft>
            </a:pPr>
            <a:r>
              <a:rPr sz="1400" i="0">
                <a:solidFill>
                  <a:srgbClr val="222222"/>
                </a:solidFill>
                <a:latin typeface="Calibri"/>
              </a:rPr>
              <a:t>Cathy, S. T. (2002). </a:t>
            </a:r>
            <a:r>
              <a:rPr sz="1400" i="1">
                <a:solidFill>
                  <a:srgbClr val="222222"/>
                </a:solidFill>
                <a:latin typeface="Calibri"/>
              </a:rPr>
              <a:t>Eat Mor Chikin: Inspire more people</a:t>
            </a:r>
            <a:r>
              <a:rPr sz="1400" i="0">
                <a:solidFill>
                  <a:srgbClr val="222222"/>
                </a:solidFill>
                <a:latin typeface="Calibri"/>
              </a:rPr>
              <a:t>. Looking Glass Books.</a:t>
            </a:r>
          </a:p>
          <a:p>
            <a:pPr>
              <a:lnSpc>
                <a:spcPct val="120000"/>
              </a:lnSpc>
              <a:spcAft>
                <a:spcPts val="600"/>
              </a:spcAft>
            </a:pPr>
            <a:r>
              <a:rPr sz="1400" i="0">
                <a:solidFill>
                  <a:srgbClr val="222222"/>
                </a:solidFill>
                <a:latin typeface="Calibri"/>
              </a:rPr>
              <a:t>Chick-fil-A. (2023). </a:t>
            </a:r>
            <a:r>
              <a:rPr sz="1400" i="1">
                <a:solidFill>
                  <a:srgbClr val="222222"/>
                </a:solidFill>
                <a:latin typeface="Calibri"/>
              </a:rPr>
              <a:t>Remarkable Futures scholarships</a:t>
            </a:r>
            <a:r>
              <a:rPr sz="1400" i="0">
                <a:solidFill>
                  <a:srgbClr val="222222"/>
                </a:solidFill>
                <a:latin typeface="Calibri"/>
              </a:rPr>
              <a:t>. https://www.chick-fil-a.com/remarkable-futures-scholarships</a:t>
            </a:r>
          </a:p>
          <a:p>
            <a:pPr>
              <a:lnSpc>
                <a:spcPct val="120000"/>
              </a:lnSpc>
              <a:spcAft>
                <a:spcPts val="600"/>
              </a:spcAft>
            </a:pPr>
            <a:r>
              <a:rPr sz="1400" i="0">
                <a:solidFill>
                  <a:srgbClr val="222222"/>
                </a:solidFill>
                <a:latin typeface="Calibri"/>
              </a:rPr>
              <a:t>DailyPay. (2023). </a:t>
            </a:r>
            <a:r>
              <a:rPr sz="1400" i="1">
                <a:solidFill>
                  <a:srgbClr val="222222"/>
                </a:solidFill>
                <a:latin typeface="Calibri"/>
              </a:rPr>
              <a:t>QSR turnover and retention benchmarks</a:t>
            </a:r>
            <a:r>
              <a:rPr sz="1400" i="0">
                <a:solidFill>
                  <a:srgbClr val="222222"/>
                </a:solidFill>
                <a:latin typeface="Calibri"/>
              </a:rPr>
              <a:t>. https://www.dailypay.com/resource-center/blog</a:t>
            </a:r>
          </a:p>
          <a:p>
            <a:pPr>
              <a:lnSpc>
                <a:spcPct val="120000"/>
              </a:lnSpc>
              <a:spcAft>
                <a:spcPts val="600"/>
              </a:spcAft>
            </a:pPr>
            <a:r>
              <a:rPr sz="1400" i="0">
                <a:solidFill>
                  <a:srgbClr val="222222"/>
                </a:solidFill>
                <a:latin typeface="Calibri"/>
              </a:rPr>
              <a:t>Herzberg, F., Mausner, B., &amp; Snyderman, B. (1959). </a:t>
            </a:r>
            <a:r>
              <a:rPr sz="1400" i="1">
                <a:solidFill>
                  <a:srgbClr val="222222"/>
                </a:solidFill>
                <a:latin typeface="Calibri"/>
              </a:rPr>
              <a:t>The motivation to work</a:t>
            </a:r>
            <a:r>
              <a:rPr sz="1400" i="0">
                <a:solidFill>
                  <a:srgbClr val="222222"/>
                </a:solidFill>
                <a:latin typeface="Calibri"/>
              </a:rPr>
              <a:t>. Wiley.</a:t>
            </a:r>
          </a:p>
          <a:p>
            <a:pPr>
              <a:lnSpc>
                <a:spcPct val="120000"/>
              </a:lnSpc>
              <a:spcAft>
                <a:spcPts val="600"/>
              </a:spcAft>
            </a:pPr>
            <a:r>
              <a:rPr sz="1400" i="0">
                <a:solidFill>
                  <a:srgbClr val="222222"/>
                </a:solidFill>
                <a:latin typeface="Calibri"/>
              </a:rPr>
              <a:t>Schein, E. H. (1985). </a:t>
            </a:r>
            <a:r>
              <a:rPr sz="1400" i="1">
                <a:solidFill>
                  <a:srgbClr val="222222"/>
                </a:solidFill>
                <a:latin typeface="Calibri"/>
              </a:rPr>
              <a:t>Organizational culture and leadership</a:t>
            </a:r>
            <a:r>
              <a:rPr sz="1400" i="0">
                <a:solidFill>
                  <a:srgbClr val="222222"/>
                </a:solidFill>
                <a:latin typeface="Calibri"/>
              </a:rPr>
              <a:t>. Jossey-Bass.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